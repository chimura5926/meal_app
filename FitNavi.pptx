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93" r:id="rId2"/>
    <p:sldId id="285" r:id="rId3"/>
    <p:sldId id="295" r:id="rId4"/>
    <p:sldId id="296" r:id="rId5"/>
    <p:sldId id="297" r:id="rId6"/>
    <p:sldId id="301" r:id="rId7"/>
    <p:sldId id="299" r:id="rId8"/>
    <p:sldId id="300" r:id="rId9"/>
    <p:sldId id="298" r:id="rId10"/>
    <p:sldId id="294" r:id="rId11"/>
    <p:sldId id="292" r:id="rId1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94" d="100"/>
          <a:sy n="94" d="100"/>
        </p:scale>
        <p:origin x="17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73E38F-F8D7-491E-8D82-3A11B2AF7DAA}" type="datetimeFigureOut">
              <a:rPr kumimoji="1" lang="ja-JP" altLang="en-US" smtClean="0"/>
              <a:t>2026/3/21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5D7DC4-6C2E-4050-8813-480877772EB0}" type="slidenum">
              <a:rPr kumimoji="1" lang="ja-JP" altLang="en-US" smtClean="0"/>
              <a:t>‹#›</a:t>
            </a:fld>
            <a:endParaRPr kumimoji="1" lang="ja-JP" altLang="en-US"/>
          </a:p>
        </p:txBody>
      </p:sp>
    </p:spTree>
    <p:extLst>
      <p:ext uri="{BB962C8B-B14F-4D97-AF65-F5344CB8AC3E}">
        <p14:creationId xmlns:p14="http://schemas.microsoft.com/office/powerpoint/2010/main" val="236214414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4B60A-0C8E-85A3-33E8-65D93C2B24A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E16DAC2-2C1D-24D4-DE12-DD68772A871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C8D6A3E-1B99-4F35-1D90-13433FC25016}"/>
              </a:ext>
            </a:extLst>
          </p:cNvPr>
          <p:cNvSpPr>
            <a:spLocks noGrp="1"/>
          </p:cNvSpPr>
          <p:nvPr>
            <p:ph type="body" idx="1"/>
          </p:nvPr>
        </p:nvSpPr>
        <p:spPr/>
        <p:txBody>
          <a:bodyPr/>
          <a:lstStyle/>
          <a:p>
            <a:r>
              <a:rPr kumimoji="1" lang="ja-JP" altLang="en-US" dirty="0"/>
              <a:t>電離箱では自由電子に対して陽イオンの収集時間が何桁も大きいので、前置増幅器を利用して自由電子のみを見ている</a:t>
            </a:r>
            <a:endParaRPr kumimoji="1" lang="en-US" altLang="ja-JP" dirty="0"/>
          </a:p>
        </p:txBody>
      </p:sp>
      <p:sp>
        <p:nvSpPr>
          <p:cNvPr id="4" name="スライド番号プレースホルダー 3">
            <a:extLst>
              <a:ext uri="{FF2B5EF4-FFF2-40B4-BE49-F238E27FC236}">
                <a16:creationId xmlns:a16="http://schemas.microsoft.com/office/drawing/2014/main" id="{9FDDA4D0-64F8-6D96-A237-2F779DD06929}"/>
              </a:ext>
            </a:extLst>
          </p:cNvPr>
          <p:cNvSpPr>
            <a:spLocks noGrp="1"/>
          </p:cNvSpPr>
          <p:nvPr>
            <p:ph type="sldNum" sz="quarter" idx="5"/>
          </p:nvPr>
        </p:nvSpPr>
        <p:spPr/>
        <p:txBody>
          <a:bodyPr/>
          <a:lstStyle/>
          <a:p>
            <a:fld id="{D05D7DC4-6C2E-4050-8813-480877772EB0}" type="slidenum">
              <a:rPr kumimoji="1" lang="ja-JP" altLang="en-US" smtClean="0"/>
              <a:t>2</a:t>
            </a:fld>
            <a:endParaRPr kumimoji="1" lang="ja-JP" altLang="en-US"/>
          </a:p>
        </p:txBody>
      </p:sp>
    </p:spTree>
    <p:extLst>
      <p:ext uri="{BB962C8B-B14F-4D97-AF65-F5344CB8AC3E}">
        <p14:creationId xmlns:p14="http://schemas.microsoft.com/office/powerpoint/2010/main" val="677681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EA447-9620-68A6-E3E9-86261ADA8EA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BDA1BC5-CEAA-EFCC-27AB-35C4020527A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95842F2-FE77-537C-6B5C-346E5E559993}"/>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BBDB6B75-3F84-6BB1-8DF2-6C9F2FA4DB12}"/>
              </a:ext>
            </a:extLst>
          </p:cNvPr>
          <p:cNvSpPr>
            <a:spLocks noGrp="1"/>
          </p:cNvSpPr>
          <p:nvPr>
            <p:ph type="sldNum" sz="quarter" idx="5"/>
          </p:nvPr>
        </p:nvSpPr>
        <p:spPr/>
        <p:txBody>
          <a:bodyPr/>
          <a:lstStyle/>
          <a:p>
            <a:fld id="{D05D7DC4-6C2E-4050-8813-480877772EB0}" type="slidenum">
              <a:rPr kumimoji="1" lang="ja-JP" altLang="en-US" smtClean="0"/>
              <a:t>3</a:t>
            </a:fld>
            <a:endParaRPr kumimoji="1" lang="ja-JP" altLang="en-US"/>
          </a:p>
        </p:txBody>
      </p:sp>
    </p:spTree>
    <p:extLst>
      <p:ext uri="{BB962C8B-B14F-4D97-AF65-F5344CB8AC3E}">
        <p14:creationId xmlns:p14="http://schemas.microsoft.com/office/powerpoint/2010/main" val="13393328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59D39-12B0-818A-CAE0-9BD2F2030B0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2ECA472-BE86-DF2C-CB32-534B894D5AC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32EA6E9-8131-ACDE-34C8-18FD8DBC11CF}"/>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686613E9-7361-D8D6-A5B3-3DB09AD2D20F}"/>
              </a:ext>
            </a:extLst>
          </p:cNvPr>
          <p:cNvSpPr>
            <a:spLocks noGrp="1"/>
          </p:cNvSpPr>
          <p:nvPr>
            <p:ph type="sldNum" sz="quarter" idx="5"/>
          </p:nvPr>
        </p:nvSpPr>
        <p:spPr/>
        <p:txBody>
          <a:bodyPr/>
          <a:lstStyle/>
          <a:p>
            <a:fld id="{D05D7DC4-6C2E-4050-8813-480877772EB0}" type="slidenum">
              <a:rPr kumimoji="1" lang="ja-JP" altLang="en-US" smtClean="0"/>
              <a:t>4</a:t>
            </a:fld>
            <a:endParaRPr kumimoji="1" lang="ja-JP" altLang="en-US"/>
          </a:p>
        </p:txBody>
      </p:sp>
    </p:spTree>
    <p:extLst>
      <p:ext uri="{BB962C8B-B14F-4D97-AF65-F5344CB8AC3E}">
        <p14:creationId xmlns:p14="http://schemas.microsoft.com/office/powerpoint/2010/main" val="26066532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BD3EC-C2D8-660C-20A1-6356B543DCD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E7E1B27-BA08-911F-E5FE-39C0C7B0A18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FA448D9-EB08-F125-2E72-C99A03B26563}"/>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6527D2BF-0359-568C-D605-8524FC9C8DCD}"/>
              </a:ext>
            </a:extLst>
          </p:cNvPr>
          <p:cNvSpPr>
            <a:spLocks noGrp="1"/>
          </p:cNvSpPr>
          <p:nvPr>
            <p:ph type="sldNum" sz="quarter" idx="5"/>
          </p:nvPr>
        </p:nvSpPr>
        <p:spPr/>
        <p:txBody>
          <a:bodyPr/>
          <a:lstStyle/>
          <a:p>
            <a:fld id="{D05D7DC4-6C2E-4050-8813-480877772EB0}" type="slidenum">
              <a:rPr kumimoji="1" lang="ja-JP" altLang="en-US" smtClean="0"/>
              <a:t>5</a:t>
            </a:fld>
            <a:endParaRPr kumimoji="1" lang="ja-JP" altLang="en-US"/>
          </a:p>
        </p:txBody>
      </p:sp>
    </p:spTree>
    <p:extLst>
      <p:ext uri="{BB962C8B-B14F-4D97-AF65-F5344CB8AC3E}">
        <p14:creationId xmlns:p14="http://schemas.microsoft.com/office/powerpoint/2010/main" val="18203895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FE3FE-A8BB-5C8C-353D-86AFCDFCE1D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BD1CA63-8CA4-32F8-ACA2-4D0C81294AF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DEB43F4-7D96-7EC0-E6F0-A6541DA9D81E}"/>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41221887-2EEE-79E3-2F74-3B633655A844}"/>
              </a:ext>
            </a:extLst>
          </p:cNvPr>
          <p:cNvSpPr>
            <a:spLocks noGrp="1"/>
          </p:cNvSpPr>
          <p:nvPr>
            <p:ph type="sldNum" sz="quarter" idx="5"/>
          </p:nvPr>
        </p:nvSpPr>
        <p:spPr/>
        <p:txBody>
          <a:bodyPr/>
          <a:lstStyle/>
          <a:p>
            <a:fld id="{D05D7DC4-6C2E-4050-8813-480877772EB0}" type="slidenum">
              <a:rPr kumimoji="1" lang="ja-JP" altLang="en-US" smtClean="0"/>
              <a:t>6</a:t>
            </a:fld>
            <a:endParaRPr kumimoji="1" lang="ja-JP" altLang="en-US"/>
          </a:p>
        </p:txBody>
      </p:sp>
    </p:spTree>
    <p:extLst>
      <p:ext uri="{BB962C8B-B14F-4D97-AF65-F5344CB8AC3E}">
        <p14:creationId xmlns:p14="http://schemas.microsoft.com/office/powerpoint/2010/main" val="9110929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5A9A4-56F6-6D02-E240-0CBB7369908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063920E-3927-D944-B460-56AE9881F97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924226C-7A72-E5CE-F714-AD3FFB7EBABA}"/>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34C4CA1F-7044-6C50-3F52-B6E71E8B6BBA}"/>
              </a:ext>
            </a:extLst>
          </p:cNvPr>
          <p:cNvSpPr>
            <a:spLocks noGrp="1"/>
          </p:cNvSpPr>
          <p:nvPr>
            <p:ph type="sldNum" sz="quarter" idx="5"/>
          </p:nvPr>
        </p:nvSpPr>
        <p:spPr/>
        <p:txBody>
          <a:bodyPr/>
          <a:lstStyle/>
          <a:p>
            <a:fld id="{D05D7DC4-6C2E-4050-8813-480877772EB0}" type="slidenum">
              <a:rPr kumimoji="1" lang="ja-JP" altLang="en-US" smtClean="0"/>
              <a:t>7</a:t>
            </a:fld>
            <a:endParaRPr kumimoji="1" lang="ja-JP" altLang="en-US"/>
          </a:p>
        </p:txBody>
      </p:sp>
    </p:spTree>
    <p:extLst>
      <p:ext uri="{BB962C8B-B14F-4D97-AF65-F5344CB8AC3E}">
        <p14:creationId xmlns:p14="http://schemas.microsoft.com/office/powerpoint/2010/main" val="12402561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2878C-F45B-11F5-3784-5722971DC0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1922FAE-B28B-41F9-F512-0414E528D79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140C68E-9FB4-7979-5025-BED819CBC7EC}"/>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3E8ED87C-C33F-E696-1B8A-17433599E089}"/>
              </a:ext>
            </a:extLst>
          </p:cNvPr>
          <p:cNvSpPr>
            <a:spLocks noGrp="1"/>
          </p:cNvSpPr>
          <p:nvPr>
            <p:ph type="sldNum" sz="quarter" idx="5"/>
          </p:nvPr>
        </p:nvSpPr>
        <p:spPr/>
        <p:txBody>
          <a:bodyPr/>
          <a:lstStyle/>
          <a:p>
            <a:fld id="{D05D7DC4-6C2E-4050-8813-480877772EB0}" type="slidenum">
              <a:rPr kumimoji="1" lang="ja-JP" altLang="en-US" smtClean="0"/>
              <a:t>8</a:t>
            </a:fld>
            <a:endParaRPr kumimoji="1" lang="ja-JP" altLang="en-US"/>
          </a:p>
        </p:txBody>
      </p:sp>
    </p:spTree>
    <p:extLst>
      <p:ext uri="{BB962C8B-B14F-4D97-AF65-F5344CB8AC3E}">
        <p14:creationId xmlns:p14="http://schemas.microsoft.com/office/powerpoint/2010/main" val="23798852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B4726-A42F-3EA6-2852-893B6B6204D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16F7403-924B-B794-203E-696843F422A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C6EC60-DE47-265D-52F9-ADFD7A73EDDD}"/>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4FA9D64C-EEE1-4EF5-447A-3F47FC8145FD}"/>
              </a:ext>
            </a:extLst>
          </p:cNvPr>
          <p:cNvSpPr>
            <a:spLocks noGrp="1"/>
          </p:cNvSpPr>
          <p:nvPr>
            <p:ph type="sldNum" sz="quarter" idx="5"/>
          </p:nvPr>
        </p:nvSpPr>
        <p:spPr/>
        <p:txBody>
          <a:bodyPr/>
          <a:lstStyle/>
          <a:p>
            <a:fld id="{D05D7DC4-6C2E-4050-8813-480877772EB0}" type="slidenum">
              <a:rPr kumimoji="1" lang="ja-JP" altLang="en-US" smtClean="0"/>
              <a:t>9</a:t>
            </a:fld>
            <a:endParaRPr kumimoji="1" lang="ja-JP" altLang="en-US"/>
          </a:p>
        </p:txBody>
      </p:sp>
    </p:spTree>
    <p:extLst>
      <p:ext uri="{BB962C8B-B14F-4D97-AF65-F5344CB8AC3E}">
        <p14:creationId xmlns:p14="http://schemas.microsoft.com/office/powerpoint/2010/main" val="4722659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AF708-C051-CE2A-3F25-8431F5450FE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ACB046E-814B-B6A5-31D8-7022A25E359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207FB5A-8B2B-9477-EFDF-C3CB999C767B}"/>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8C7F861C-57C4-B9FF-2372-E0C8F26301A1}"/>
              </a:ext>
            </a:extLst>
          </p:cNvPr>
          <p:cNvSpPr>
            <a:spLocks noGrp="1"/>
          </p:cNvSpPr>
          <p:nvPr>
            <p:ph type="sldNum" sz="quarter" idx="5"/>
          </p:nvPr>
        </p:nvSpPr>
        <p:spPr/>
        <p:txBody>
          <a:bodyPr/>
          <a:lstStyle/>
          <a:p>
            <a:fld id="{D05D7DC4-6C2E-4050-8813-480877772EB0}" type="slidenum">
              <a:rPr kumimoji="1" lang="ja-JP" altLang="en-US" smtClean="0"/>
              <a:t>10</a:t>
            </a:fld>
            <a:endParaRPr kumimoji="1" lang="ja-JP" altLang="en-US"/>
          </a:p>
        </p:txBody>
      </p:sp>
    </p:spTree>
    <p:extLst>
      <p:ext uri="{BB962C8B-B14F-4D97-AF65-F5344CB8AC3E}">
        <p14:creationId xmlns:p14="http://schemas.microsoft.com/office/powerpoint/2010/main" val="35197359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71CAE-9FB2-65E1-2B4F-F0B5367E2F8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84F999F-018B-4585-8713-C8BD603EDCC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459E78F-8CE4-5A4E-F82E-7978707A7462}"/>
              </a:ext>
            </a:extLst>
          </p:cNvPr>
          <p:cNvSpPr>
            <a:spLocks noGrp="1"/>
          </p:cNvSpPr>
          <p:nvPr>
            <p:ph type="body" idx="1"/>
          </p:nvPr>
        </p:nvSpPr>
        <p:spPr/>
        <p:txBody>
          <a:bodyPr/>
          <a:lstStyle/>
          <a:p>
            <a:r>
              <a:rPr kumimoji="1" lang="ja-JP" altLang="en-US" dirty="0"/>
              <a:t>電離箱では自由電子に対して陽イオンの収集時間が何桁も大きいので、前置増幅器を利用して自由電子のみを見ている</a:t>
            </a:r>
            <a:endParaRPr kumimoji="1" lang="en-US" altLang="ja-JP" dirty="0"/>
          </a:p>
        </p:txBody>
      </p:sp>
      <p:sp>
        <p:nvSpPr>
          <p:cNvPr id="4" name="スライド番号プレースホルダー 3">
            <a:extLst>
              <a:ext uri="{FF2B5EF4-FFF2-40B4-BE49-F238E27FC236}">
                <a16:creationId xmlns:a16="http://schemas.microsoft.com/office/drawing/2014/main" id="{57FE5DDB-B5CF-6F86-19BD-E10524ACA1C8}"/>
              </a:ext>
            </a:extLst>
          </p:cNvPr>
          <p:cNvSpPr>
            <a:spLocks noGrp="1"/>
          </p:cNvSpPr>
          <p:nvPr>
            <p:ph type="sldNum" sz="quarter" idx="5"/>
          </p:nvPr>
        </p:nvSpPr>
        <p:spPr/>
        <p:txBody>
          <a:bodyPr/>
          <a:lstStyle/>
          <a:p>
            <a:fld id="{D05D7DC4-6C2E-4050-8813-480877772EB0}" type="slidenum">
              <a:rPr kumimoji="1" lang="ja-JP" altLang="en-US" smtClean="0"/>
              <a:t>11</a:t>
            </a:fld>
            <a:endParaRPr kumimoji="1" lang="ja-JP" altLang="en-US"/>
          </a:p>
        </p:txBody>
      </p:sp>
    </p:spTree>
    <p:extLst>
      <p:ext uri="{BB962C8B-B14F-4D97-AF65-F5344CB8AC3E}">
        <p14:creationId xmlns:p14="http://schemas.microsoft.com/office/powerpoint/2010/main" val="29386412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A54149-B5D4-1EC5-E0C9-74DE428CEE01}"/>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dirty="0"/>
              <a:t>マスター タイトルの書式設定</a:t>
            </a:r>
          </a:p>
        </p:txBody>
      </p:sp>
      <p:sp>
        <p:nvSpPr>
          <p:cNvPr id="3" name="字幕 2">
            <a:extLst>
              <a:ext uri="{FF2B5EF4-FFF2-40B4-BE49-F238E27FC236}">
                <a16:creationId xmlns:a16="http://schemas.microsoft.com/office/drawing/2014/main" id="{C63EFC44-E0E2-2762-CEAE-A069A97180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ABF4C352-5FE3-0273-09A4-053B50B8BA2C}"/>
              </a:ext>
            </a:extLst>
          </p:cNvPr>
          <p:cNvSpPr>
            <a:spLocks noGrp="1"/>
          </p:cNvSpPr>
          <p:nvPr>
            <p:ph type="dt" sz="half" idx="10"/>
          </p:nvPr>
        </p:nvSpPr>
        <p:spPr/>
        <p:txBody>
          <a:bodyPr/>
          <a:lstStyle/>
          <a:p>
            <a:fld id="{DE53E6A2-B7B2-4BD8-B2C6-497447BE5B90}" type="datetimeFigureOut">
              <a:rPr kumimoji="1" lang="ja-JP" altLang="en-US" smtClean="0"/>
              <a:t>2026/3/21</a:t>
            </a:fld>
            <a:endParaRPr kumimoji="1" lang="ja-JP" altLang="en-US"/>
          </a:p>
        </p:txBody>
      </p:sp>
      <p:sp>
        <p:nvSpPr>
          <p:cNvPr id="5" name="フッター プレースホルダー 4">
            <a:extLst>
              <a:ext uri="{FF2B5EF4-FFF2-40B4-BE49-F238E27FC236}">
                <a16:creationId xmlns:a16="http://schemas.microsoft.com/office/drawing/2014/main" id="{56C9D769-294B-AE18-99C3-E8252AB9037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15191CD-4A9C-33D8-11BE-CC2EAA087D79}"/>
              </a:ext>
            </a:extLst>
          </p:cNvPr>
          <p:cNvSpPr>
            <a:spLocks noGrp="1"/>
          </p:cNvSpPr>
          <p:nvPr>
            <p:ph type="sldNum" sz="quarter" idx="12"/>
          </p:nvPr>
        </p:nvSpPr>
        <p:spPr/>
        <p:txBody>
          <a:bodyPr/>
          <a:lstStyle/>
          <a:p>
            <a:fld id="{55B1F76D-A8A9-48A1-B821-78499EFC096F}" type="slidenum">
              <a:rPr kumimoji="1" lang="ja-JP" altLang="en-US" smtClean="0"/>
              <a:t>‹#›</a:t>
            </a:fld>
            <a:endParaRPr kumimoji="1" lang="ja-JP" altLang="en-US"/>
          </a:p>
        </p:txBody>
      </p:sp>
    </p:spTree>
    <p:extLst>
      <p:ext uri="{BB962C8B-B14F-4D97-AF65-F5344CB8AC3E}">
        <p14:creationId xmlns:p14="http://schemas.microsoft.com/office/powerpoint/2010/main" val="42729861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376B4F37-CB91-9975-9C71-8BA37338B048}"/>
              </a:ext>
            </a:extLst>
          </p:cNvPr>
          <p:cNvSpPr>
            <a:spLocks noGrp="1"/>
          </p:cNvSpPr>
          <p:nvPr>
            <p:ph idx="1"/>
          </p:nvPr>
        </p:nvSpPr>
        <p:spPr>
          <a:xfrm>
            <a:off x="294735" y="1253331"/>
            <a:ext cx="10515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F705E0E-D325-9817-1372-0A12997943BD}"/>
              </a:ext>
            </a:extLst>
          </p:cNvPr>
          <p:cNvSpPr>
            <a:spLocks noGrp="1"/>
          </p:cNvSpPr>
          <p:nvPr>
            <p:ph type="dt" sz="half" idx="10"/>
          </p:nvPr>
        </p:nvSpPr>
        <p:spPr/>
        <p:txBody>
          <a:bodyPr/>
          <a:lstStyle/>
          <a:p>
            <a:fld id="{DE53E6A2-B7B2-4BD8-B2C6-497447BE5B90}" type="datetimeFigureOut">
              <a:rPr kumimoji="1" lang="ja-JP" altLang="en-US" smtClean="0"/>
              <a:t>2026/3/21</a:t>
            </a:fld>
            <a:endParaRPr kumimoji="1" lang="ja-JP" altLang="en-US"/>
          </a:p>
        </p:txBody>
      </p:sp>
      <p:sp>
        <p:nvSpPr>
          <p:cNvPr id="5" name="フッター プレースホルダー 4">
            <a:extLst>
              <a:ext uri="{FF2B5EF4-FFF2-40B4-BE49-F238E27FC236}">
                <a16:creationId xmlns:a16="http://schemas.microsoft.com/office/drawing/2014/main" id="{F2D7E62D-181B-B68B-4817-553A29A6236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7475E8B-CBC8-2787-3FFB-0AD3D8999FF3}"/>
              </a:ext>
            </a:extLst>
          </p:cNvPr>
          <p:cNvSpPr>
            <a:spLocks noGrp="1"/>
          </p:cNvSpPr>
          <p:nvPr>
            <p:ph type="sldNum" sz="quarter" idx="12"/>
          </p:nvPr>
        </p:nvSpPr>
        <p:spPr/>
        <p:txBody>
          <a:bodyPr/>
          <a:lstStyle/>
          <a:p>
            <a:fld id="{55B1F76D-A8A9-48A1-B821-78499EFC096F}" type="slidenum">
              <a:rPr kumimoji="1" lang="ja-JP" altLang="en-US" smtClean="0"/>
              <a:t>‹#›</a:t>
            </a:fld>
            <a:endParaRPr kumimoji="1" lang="ja-JP" altLang="en-US"/>
          </a:p>
        </p:txBody>
      </p:sp>
      <p:sp>
        <p:nvSpPr>
          <p:cNvPr id="7" name="正方形/長方形 6">
            <a:extLst>
              <a:ext uri="{FF2B5EF4-FFF2-40B4-BE49-F238E27FC236}">
                <a16:creationId xmlns:a16="http://schemas.microsoft.com/office/drawing/2014/main" id="{7564F9FF-4FC6-DF37-220C-7A1F3C7784E6}"/>
              </a:ext>
            </a:extLst>
          </p:cNvPr>
          <p:cNvSpPr/>
          <p:nvPr userDrawn="1"/>
        </p:nvSpPr>
        <p:spPr>
          <a:xfrm>
            <a:off x="0" y="0"/>
            <a:ext cx="12192000" cy="759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D02BA800-9DA4-EAD1-3563-D7C4853DBDB0}"/>
              </a:ext>
            </a:extLst>
          </p:cNvPr>
          <p:cNvSpPr>
            <a:spLocks noGrp="1"/>
          </p:cNvSpPr>
          <p:nvPr>
            <p:ph type="title"/>
          </p:nvPr>
        </p:nvSpPr>
        <p:spPr>
          <a:xfrm>
            <a:off x="294735" y="152100"/>
            <a:ext cx="10515600" cy="528937"/>
          </a:xfrm>
        </p:spPr>
        <p:txBody>
          <a:bodyPr>
            <a:noAutofit/>
          </a:bodyPr>
          <a:lstStyle>
            <a:lvl1pPr>
              <a:defRPr sz="3200" b="1">
                <a:solidFill>
                  <a:schemeClr val="bg1"/>
                </a:solidFill>
              </a:defRPr>
            </a:lvl1pPr>
          </a:lstStyle>
          <a:p>
            <a:r>
              <a:rPr kumimoji="1" lang="ja-JP" altLang="en-US" dirty="0"/>
              <a:t>マスター タイトルの書式設定</a:t>
            </a:r>
          </a:p>
        </p:txBody>
      </p:sp>
    </p:spTree>
    <p:extLst>
      <p:ext uri="{BB962C8B-B14F-4D97-AF65-F5344CB8AC3E}">
        <p14:creationId xmlns:p14="http://schemas.microsoft.com/office/powerpoint/2010/main" val="585728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B02182D-DBBD-4220-E9AD-9F7B1D2D1C35}"/>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4972066-1813-5859-8390-D8DBA40B358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0039C74B-12B9-94D1-CCD1-79205F77D909}"/>
              </a:ext>
            </a:extLst>
          </p:cNvPr>
          <p:cNvSpPr>
            <a:spLocks noGrp="1"/>
          </p:cNvSpPr>
          <p:nvPr>
            <p:ph type="dt" sz="half" idx="10"/>
          </p:nvPr>
        </p:nvSpPr>
        <p:spPr/>
        <p:txBody>
          <a:bodyPr/>
          <a:lstStyle/>
          <a:p>
            <a:fld id="{DE53E6A2-B7B2-4BD8-B2C6-497447BE5B90}" type="datetimeFigureOut">
              <a:rPr kumimoji="1" lang="ja-JP" altLang="en-US" smtClean="0"/>
              <a:t>2026/3/21</a:t>
            </a:fld>
            <a:endParaRPr kumimoji="1" lang="ja-JP" altLang="en-US"/>
          </a:p>
        </p:txBody>
      </p:sp>
      <p:sp>
        <p:nvSpPr>
          <p:cNvPr id="5" name="フッター プレースホルダー 4">
            <a:extLst>
              <a:ext uri="{FF2B5EF4-FFF2-40B4-BE49-F238E27FC236}">
                <a16:creationId xmlns:a16="http://schemas.microsoft.com/office/drawing/2014/main" id="{5F46D822-C1EC-8E68-988F-AE1DD6775D8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34BECFF-BE67-759B-5709-D9D8F92F5918}"/>
              </a:ext>
            </a:extLst>
          </p:cNvPr>
          <p:cNvSpPr>
            <a:spLocks noGrp="1"/>
          </p:cNvSpPr>
          <p:nvPr>
            <p:ph type="sldNum" sz="quarter" idx="12"/>
          </p:nvPr>
        </p:nvSpPr>
        <p:spPr/>
        <p:txBody>
          <a:bodyPr/>
          <a:lstStyle/>
          <a:p>
            <a:fld id="{55B1F76D-A8A9-48A1-B821-78499EFC096F}" type="slidenum">
              <a:rPr kumimoji="1" lang="ja-JP" altLang="en-US" smtClean="0"/>
              <a:t>‹#›</a:t>
            </a:fld>
            <a:endParaRPr kumimoji="1" lang="ja-JP" altLang="en-US"/>
          </a:p>
        </p:txBody>
      </p:sp>
    </p:spTree>
    <p:extLst>
      <p:ext uri="{BB962C8B-B14F-4D97-AF65-F5344CB8AC3E}">
        <p14:creationId xmlns:p14="http://schemas.microsoft.com/office/powerpoint/2010/main" val="15539832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C6E4E0-D917-77EB-92B4-055C0C8F7F9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CDE10A1-DA60-485E-DECC-15F5E6A2504B}"/>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E7C86AFA-1450-6176-B3EB-80F12E6E7448}"/>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20BE0308-4FEF-9E11-5CFE-432A54E011E6}"/>
              </a:ext>
            </a:extLst>
          </p:cNvPr>
          <p:cNvSpPr>
            <a:spLocks noGrp="1"/>
          </p:cNvSpPr>
          <p:nvPr>
            <p:ph type="dt" sz="half" idx="10"/>
          </p:nvPr>
        </p:nvSpPr>
        <p:spPr/>
        <p:txBody>
          <a:bodyPr/>
          <a:lstStyle/>
          <a:p>
            <a:fld id="{DE53E6A2-B7B2-4BD8-B2C6-497447BE5B90}" type="datetimeFigureOut">
              <a:rPr kumimoji="1" lang="ja-JP" altLang="en-US" smtClean="0"/>
              <a:t>2026/3/21</a:t>
            </a:fld>
            <a:endParaRPr kumimoji="1" lang="ja-JP" altLang="en-US"/>
          </a:p>
        </p:txBody>
      </p:sp>
      <p:sp>
        <p:nvSpPr>
          <p:cNvPr id="6" name="フッター プレースホルダー 5">
            <a:extLst>
              <a:ext uri="{FF2B5EF4-FFF2-40B4-BE49-F238E27FC236}">
                <a16:creationId xmlns:a16="http://schemas.microsoft.com/office/drawing/2014/main" id="{225D332A-3255-024F-BF7D-0A010C3764C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B43835C-B566-357C-2868-ECDAFCD29A88}"/>
              </a:ext>
            </a:extLst>
          </p:cNvPr>
          <p:cNvSpPr>
            <a:spLocks noGrp="1"/>
          </p:cNvSpPr>
          <p:nvPr>
            <p:ph type="sldNum" sz="quarter" idx="12"/>
          </p:nvPr>
        </p:nvSpPr>
        <p:spPr/>
        <p:txBody>
          <a:bodyPr/>
          <a:lstStyle/>
          <a:p>
            <a:fld id="{55B1F76D-A8A9-48A1-B821-78499EFC096F}" type="slidenum">
              <a:rPr kumimoji="1" lang="ja-JP" altLang="en-US" smtClean="0"/>
              <a:t>‹#›</a:t>
            </a:fld>
            <a:endParaRPr kumimoji="1" lang="ja-JP" altLang="en-US"/>
          </a:p>
        </p:txBody>
      </p:sp>
    </p:spTree>
    <p:extLst>
      <p:ext uri="{BB962C8B-B14F-4D97-AF65-F5344CB8AC3E}">
        <p14:creationId xmlns:p14="http://schemas.microsoft.com/office/powerpoint/2010/main" val="15676987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4E8BCDA-AB88-0896-9A38-F21148CEF9BA}"/>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7EED3DB-5591-8D6C-D64F-B117BCC2CB5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E58474BD-C14C-1D86-2876-FD4B78294ACE}"/>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8DE2BCD7-7959-1CBB-CE2F-A387B4266D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B79AA68D-EE82-A21E-114C-30B01D8C2577}"/>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09B0A2EC-1253-1FEE-C771-A94F4C58BB53}"/>
              </a:ext>
            </a:extLst>
          </p:cNvPr>
          <p:cNvSpPr>
            <a:spLocks noGrp="1"/>
          </p:cNvSpPr>
          <p:nvPr>
            <p:ph type="dt" sz="half" idx="10"/>
          </p:nvPr>
        </p:nvSpPr>
        <p:spPr/>
        <p:txBody>
          <a:bodyPr/>
          <a:lstStyle/>
          <a:p>
            <a:fld id="{DE53E6A2-B7B2-4BD8-B2C6-497447BE5B90}" type="datetimeFigureOut">
              <a:rPr kumimoji="1" lang="ja-JP" altLang="en-US" smtClean="0"/>
              <a:t>2026/3/21</a:t>
            </a:fld>
            <a:endParaRPr kumimoji="1" lang="ja-JP" altLang="en-US"/>
          </a:p>
        </p:txBody>
      </p:sp>
      <p:sp>
        <p:nvSpPr>
          <p:cNvPr id="8" name="フッター プレースホルダー 7">
            <a:extLst>
              <a:ext uri="{FF2B5EF4-FFF2-40B4-BE49-F238E27FC236}">
                <a16:creationId xmlns:a16="http://schemas.microsoft.com/office/drawing/2014/main" id="{7DF0804B-0ED9-5EDB-0E14-863DCD143FDF}"/>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8BE41DF0-AB70-B4EF-B1B7-69366AA7FC71}"/>
              </a:ext>
            </a:extLst>
          </p:cNvPr>
          <p:cNvSpPr>
            <a:spLocks noGrp="1"/>
          </p:cNvSpPr>
          <p:nvPr>
            <p:ph type="sldNum" sz="quarter" idx="12"/>
          </p:nvPr>
        </p:nvSpPr>
        <p:spPr/>
        <p:txBody>
          <a:bodyPr/>
          <a:lstStyle/>
          <a:p>
            <a:fld id="{55B1F76D-A8A9-48A1-B821-78499EFC096F}" type="slidenum">
              <a:rPr kumimoji="1" lang="ja-JP" altLang="en-US" smtClean="0"/>
              <a:t>‹#›</a:t>
            </a:fld>
            <a:endParaRPr kumimoji="1" lang="ja-JP" altLang="en-US"/>
          </a:p>
        </p:txBody>
      </p:sp>
    </p:spTree>
    <p:extLst>
      <p:ext uri="{BB962C8B-B14F-4D97-AF65-F5344CB8AC3E}">
        <p14:creationId xmlns:p14="http://schemas.microsoft.com/office/powerpoint/2010/main" val="38634622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D90868C-8988-7A4B-44CB-F77861413AD6}"/>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AA9BE00-5488-F32F-6D30-5E3CEE978ED1}"/>
              </a:ext>
            </a:extLst>
          </p:cNvPr>
          <p:cNvSpPr>
            <a:spLocks noGrp="1"/>
          </p:cNvSpPr>
          <p:nvPr>
            <p:ph type="dt" sz="half" idx="10"/>
          </p:nvPr>
        </p:nvSpPr>
        <p:spPr/>
        <p:txBody>
          <a:bodyPr/>
          <a:lstStyle/>
          <a:p>
            <a:fld id="{DE53E6A2-B7B2-4BD8-B2C6-497447BE5B90}" type="datetimeFigureOut">
              <a:rPr kumimoji="1" lang="ja-JP" altLang="en-US" smtClean="0"/>
              <a:t>2026/3/21</a:t>
            </a:fld>
            <a:endParaRPr kumimoji="1" lang="ja-JP" altLang="en-US"/>
          </a:p>
        </p:txBody>
      </p:sp>
      <p:sp>
        <p:nvSpPr>
          <p:cNvPr id="4" name="フッター プレースホルダー 3">
            <a:extLst>
              <a:ext uri="{FF2B5EF4-FFF2-40B4-BE49-F238E27FC236}">
                <a16:creationId xmlns:a16="http://schemas.microsoft.com/office/drawing/2014/main" id="{90FA29F1-55B6-A23F-0622-545B4586BFEF}"/>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6FAED158-5687-5F6A-0F73-EB6D07CC58F2}"/>
              </a:ext>
            </a:extLst>
          </p:cNvPr>
          <p:cNvSpPr>
            <a:spLocks noGrp="1"/>
          </p:cNvSpPr>
          <p:nvPr>
            <p:ph type="sldNum" sz="quarter" idx="12"/>
          </p:nvPr>
        </p:nvSpPr>
        <p:spPr/>
        <p:txBody>
          <a:bodyPr/>
          <a:lstStyle/>
          <a:p>
            <a:fld id="{55B1F76D-A8A9-48A1-B821-78499EFC096F}" type="slidenum">
              <a:rPr kumimoji="1" lang="ja-JP" altLang="en-US" smtClean="0"/>
              <a:t>‹#›</a:t>
            </a:fld>
            <a:endParaRPr kumimoji="1" lang="ja-JP" altLang="en-US"/>
          </a:p>
        </p:txBody>
      </p:sp>
    </p:spTree>
    <p:extLst>
      <p:ext uri="{BB962C8B-B14F-4D97-AF65-F5344CB8AC3E}">
        <p14:creationId xmlns:p14="http://schemas.microsoft.com/office/powerpoint/2010/main" val="3646366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B16C9E23-A872-4817-C461-957C9ADDC15A}"/>
              </a:ext>
            </a:extLst>
          </p:cNvPr>
          <p:cNvSpPr>
            <a:spLocks noGrp="1"/>
          </p:cNvSpPr>
          <p:nvPr>
            <p:ph type="dt" sz="half" idx="10"/>
          </p:nvPr>
        </p:nvSpPr>
        <p:spPr/>
        <p:txBody>
          <a:bodyPr/>
          <a:lstStyle/>
          <a:p>
            <a:fld id="{DE53E6A2-B7B2-4BD8-B2C6-497447BE5B90}" type="datetimeFigureOut">
              <a:rPr kumimoji="1" lang="ja-JP" altLang="en-US" smtClean="0"/>
              <a:t>2026/3/21</a:t>
            </a:fld>
            <a:endParaRPr kumimoji="1" lang="ja-JP" altLang="en-US"/>
          </a:p>
        </p:txBody>
      </p:sp>
      <p:sp>
        <p:nvSpPr>
          <p:cNvPr id="3" name="フッター プレースホルダー 2">
            <a:extLst>
              <a:ext uri="{FF2B5EF4-FFF2-40B4-BE49-F238E27FC236}">
                <a16:creationId xmlns:a16="http://schemas.microsoft.com/office/drawing/2014/main" id="{148D234D-2240-5E6C-D80C-7F58AE814353}"/>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0519F89-FF71-3423-DB54-EB5ABB4DC386}"/>
              </a:ext>
            </a:extLst>
          </p:cNvPr>
          <p:cNvSpPr>
            <a:spLocks noGrp="1"/>
          </p:cNvSpPr>
          <p:nvPr>
            <p:ph type="sldNum" sz="quarter" idx="12"/>
          </p:nvPr>
        </p:nvSpPr>
        <p:spPr/>
        <p:txBody>
          <a:bodyPr/>
          <a:lstStyle/>
          <a:p>
            <a:fld id="{55B1F76D-A8A9-48A1-B821-78499EFC096F}" type="slidenum">
              <a:rPr kumimoji="1" lang="ja-JP" altLang="en-US" smtClean="0"/>
              <a:t>‹#›</a:t>
            </a:fld>
            <a:endParaRPr kumimoji="1" lang="ja-JP" altLang="en-US"/>
          </a:p>
        </p:txBody>
      </p:sp>
    </p:spTree>
    <p:extLst>
      <p:ext uri="{BB962C8B-B14F-4D97-AF65-F5344CB8AC3E}">
        <p14:creationId xmlns:p14="http://schemas.microsoft.com/office/powerpoint/2010/main" val="2639017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A60DF7B-06FD-915C-3A75-B69B762E241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6628843-10E3-E200-4C0A-4A5E548427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6539BCAF-BB3B-74A8-2508-1D31BE973F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E6155CD-E66A-DC09-E3EF-8068D5324848}"/>
              </a:ext>
            </a:extLst>
          </p:cNvPr>
          <p:cNvSpPr>
            <a:spLocks noGrp="1"/>
          </p:cNvSpPr>
          <p:nvPr>
            <p:ph type="dt" sz="half" idx="10"/>
          </p:nvPr>
        </p:nvSpPr>
        <p:spPr/>
        <p:txBody>
          <a:bodyPr/>
          <a:lstStyle/>
          <a:p>
            <a:fld id="{DE53E6A2-B7B2-4BD8-B2C6-497447BE5B90}" type="datetimeFigureOut">
              <a:rPr kumimoji="1" lang="ja-JP" altLang="en-US" smtClean="0"/>
              <a:t>2026/3/21</a:t>
            </a:fld>
            <a:endParaRPr kumimoji="1" lang="ja-JP" altLang="en-US"/>
          </a:p>
        </p:txBody>
      </p:sp>
      <p:sp>
        <p:nvSpPr>
          <p:cNvPr id="6" name="フッター プレースホルダー 5">
            <a:extLst>
              <a:ext uri="{FF2B5EF4-FFF2-40B4-BE49-F238E27FC236}">
                <a16:creationId xmlns:a16="http://schemas.microsoft.com/office/drawing/2014/main" id="{AE4E8BD1-93FF-8B15-1E87-92904C6A23E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00CFFF3-F544-1E1C-4F94-9BC59A68261D}"/>
              </a:ext>
            </a:extLst>
          </p:cNvPr>
          <p:cNvSpPr>
            <a:spLocks noGrp="1"/>
          </p:cNvSpPr>
          <p:nvPr>
            <p:ph type="sldNum" sz="quarter" idx="12"/>
          </p:nvPr>
        </p:nvSpPr>
        <p:spPr/>
        <p:txBody>
          <a:bodyPr/>
          <a:lstStyle/>
          <a:p>
            <a:fld id="{55B1F76D-A8A9-48A1-B821-78499EFC096F}" type="slidenum">
              <a:rPr kumimoji="1" lang="ja-JP" altLang="en-US" smtClean="0"/>
              <a:t>‹#›</a:t>
            </a:fld>
            <a:endParaRPr kumimoji="1" lang="ja-JP" altLang="en-US"/>
          </a:p>
        </p:txBody>
      </p:sp>
    </p:spTree>
    <p:extLst>
      <p:ext uri="{BB962C8B-B14F-4D97-AF65-F5344CB8AC3E}">
        <p14:creationId xmlns:p14="http://schemas.microsoft.com/office/powerpoint/2010/main" val="13439519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D2CD075-422A-F1C1-A1DE-8425B5DCB5C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DF742F58-5D37-E97D-B886-FDE2FA8CE2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63133A4E-4B0A-DF29-3086-FCCDF2C93C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5CAE9F6-0C03-1CAB-92C7-B7F06D39D1B4}"/>
              </a:ext>
            </a:extLst>
          </p:cNvPr>
          <p:cNvSpPr>
            <a:spLocks noGrp="1"/>
          </p:cNvSpPr>
          <p:nvPr>
            <p:ph type="dt" sz="half" idx="10"/>
          </p:nvPr>
        </p:nvSpPr>
        <p:spPr/>
        <p:txBody>
          <a:bodyPr/>
          <a:lstStyle/>
          <a:p>
            <a:fld id="{DE53E6A2-B7B2-4BD8-B2C6-497447BE5B90}" type="datetimeFigureOut">
              <a:rPr kumimoji="1" lang="ja-JP" altLang="en-US" smtClean="0"/>
              <a:t>2026/3/21</a:t>
            </a:fld>
            <a:endParaRPr kumimoji="1" lang="ja-JP" altLang="en-US"/>
          </a:p>
        </p:txBody>
      </p:sp>
      <p:sp>
        <p:nvSpPr>
          <p:cNvPr id="6" name="フッター プレースホルダー 5">
            <a:extLst>
              <a:ext uri="{FF2B5EF4-FFF2-40B4-BE49-F238E27FC236}">
                <a16:creationId xmlns:a16="http://schemas.microsoft.com/office/drawing/2014/main" id="{D9050821-07E5-066D-4180-DE67E8FE138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48ADAF2-9F83-2277-5B20-2D03B7D56FD9}"/>
              </a:ext>
            </a:extLst>
          </p:cNvPr>
          <p:cNvSpPr>
            <a:spLocks noGrp="1"/>
          </p:cNvSpPr>
          <p:nvPr>
            <p:ph type="sldNum" sz="quarter" idx="12"/>
          </p:nvPr>
        </p:nvSpPr>
        <p:spPr/>
        <p:txBody>
          <a:bodyPr/>
          <a:lstStyle/>
          <a:p>
            <a:fld id="{55B1F76D-A8A9-48A1-B821-78499EFC096F}" type="slidenum">
              <a:rPr kumimoji="1" lang="ja-JP" altLang="en-US" smtClean="0"/>
              <a:t>‹#›</a:t>
            </a:fld>
            <a:endParaRPr kumimoji="1" lang="ja-JP" altLang="en-US"/>
          </a:p>
        </p:txBody>
      </p:sp>
    </p:spTree>
    <p:extLst>
      <p:ext uri="{BB962C8B-B14F-4D97-AF65-F5344CB8AC3E}">
        <p14:creationId xmlns:p14="http://schemas.microsoft.com/office/powerpoint/2010/main" val="965347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31CEC87-98E6-3149-752A-AC67E13F54C2}"/>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25A5075-99D3-3C62-E37D-15C53B0CDAEB}"/>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1448B86-B415-67E0-8F8C-96936F36D2F5}"/>
              </a:ext>
            </a:extLst>
          </p:cNvPr>
          <p:cNvSpPr>
            <a:spLocks noGrp="1"/>
          </p:cNvSpPr>
          <p:nvPr>
            <p:ph type="dt" sz="half" idx="10"/>
          </p:nvPr>
        </p:nvSpPr>
        <p:spPr/>
        <p:txBody>
          <a:bodyPr/>
          <a:lstStyle/>
          <a:p>
            <a:fld id="{DE53E6A2-B7B2-4BD8-B2C6-497447BE5B90}" type="datetimeFigureOut">
              <a:rPr kumimoji="1" lang="ja-JP" altLang="en-US" smtClean="0"/>
              <a:t>2026/3/21</a:t>
            </a:fld>
            <a:endParaRPr kumimoji="1" lang="ja-JP" altLang="en-US"/>
          </a:p>
        </p:txBody>
      </p:sp>
      <p:sp>
        <p:nvSpPr>
          <p:cNvPr id="5" name="フッター プレースホルダー 4">
            <a:extLst>
              <a:ext uri="{FF2B5EF4-FFF2-40B4-BE49-F238E27FC236}">
                <a16:creationId xmlns:a16="http://schemas.microsoft.com/office/drawing/2014/main" id="{AFF770E6-052F-F0CD-6401-2D0920D8B3D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9418D62-9CCA-07FA-B39B-1ED5B7E9A64C}"/>
              </a:ext>
            </a:extLst>
          </p:cNvPr>
          <p:cNvSpPr>
            <a:spLocks noGrp="1"/>
          </p:cNvSpPr>
          <p:nvPr>
            <p:ph type="sldNum" sz="quarter" idx="12"/>
          </p:nvPr>
        </p:nvSpPr>
        <p:spPr/>
        <p:txBody>
          <a:bodyPr/>
          <a:lstStyle/>
          <a:p>
            <a:fld id="{55B1F76D-A8A9-48A1-B821-78499EFC096F}" type="slidenum">
              <a:rPr kumimoji="1" lang="ja-JP" altLang="en-US" smtClean="0"/>
              <a:t>‹#›</a:t>
            </a:fld>
            <a:endParaRPr kumimoji="1" lang="ja-JP" altLang="en-US"/>
          </a:p>
        </p:txBody>
      </p:sp>
    </p:spTree>
    <p:extLst>
      <p:ext uri="{BB962C8B-B14F-4D97-AF65-F5344CB8AC3E}">
        <p14:creationId xmlns:p14="http://schemas.microsoft.com/office/powerpoint/2010/main" val="1220498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336ACCE5-3166-8372-06B1-511AC8D16D9D}"/>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AFD7366-CCE5-AC52-4C9C-1BD3FA622449}"/>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6288953-6D9E-54CC-A68A-AED3874CADD5}"/>
              </a:ext>
            </a:extLst>
          </p:cNvPr>
          <p:cNvSpPr>
            <a:spLocks noGrp="1"/>
          </p:cNvSpPr>
          <p:nvPr>
            <p:ph type="dt" sz="half" idx="10"/>
          </p:nvPr>
        </p:nvSpPr>
        <p:spPr/>
        <p:txBody>
          <a:bodyPr/>
          <a:lstStyle/>
          <a:p>
            <a:fld id="{DE53E6A2-B7B2-4BD8-B2C6-497447BE5B90}" type="datetimeFigureOut">
              <a:rPr kumimoji="1" lang="ja-JP" altLang="en-US" smtClean="0"/>
              <a:t>2026/3/21</a:t>
            </a:fld>
            <a:endParaRPr kumimoji="1" lang="ja-JP" altLang="en-US"/>
          </a:p>
        </p:txBody>
      </p:sp>
      <p:sp>
        <p:nvSpPr>
          <p:cNvPr id="5" name="フッター プレースホルダー 4">
            <a:extLst>
              <a:ext uri="{FF2B5EF4-FFF2-40B4-BE49-F238E27FC236}">
                <a16:creationId xmlns:a16="http://schemas.microsoft.com/office/drawing/2014/main" id="{F69D1ACA-C35A-0378-49F1-BF53E25ED65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3C95D92-861B-41B3-6DC3-662A119703FB}"/>
              </a:ext>
            </a:extLst>
          </p:cNvPr>
          <p:cNvSpPr>
            <a:spLocks noGrp="1"/>
          </p:cNvSpPr>
          <p:nvPr>
            <p:ph type="sldNum" sz="quarter" idx="12"/>
          </p:nvPr>
        </p:nvSpPr>
        <p:spPr/>
        <p:txBody>
          <a:bodyPr/>
          <a:lstStyle/>
          <a:p>
            <a:fld id="{55B1F76D-A8A9-48A1-B821-78499EFC096F}" type="slidenum">
              <a:rPr kumimoji="1" lang="ja-JP" altLang="en-US" smtClean="0"/>
              <a:t>‹#›</a:t>
            </a:fld>
            <a:endParaRPr kumimoji="1" lang="ja-JP" altLang="en-US"/>
          </a:p>
        </p:txBody>
      </p:sp>
    </p:spTree>
    <p:extLst>
      <p:ext uri="{BB962C8B-B14F-4D97-AF65-F5344CB8AC3E}">
        <p14:creationId xmlns:p14="http://schemas.microsoft.com/office/powerpoint/2010/main" val="14153211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404FD071-4C97-375C-BE6A-4881AF08A7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BBAAC68-24F2-7793-364C-1E17EAB353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EF54709-33E0-BAA7-675E-868725E3DA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E53E6A2-B7B2-4BD8-B2C6-497447BE5B90}" type="datetimeFigureOut">
              <a:rPr kumimoji="1" lang="ja-JP" altLang="en-US" smtClean="0"/>
              <a:t>2026/3/21</a:t>
            </a:fld>
            <a:endParaRPr kumimoji="1" lang="ja-JP" altLang="en-US"/>
          </a:p>
        </p:txBody>
      </p:sp>
      <p:sp>
        <p:nvSpPr>
          <p:cNvPr id="5" name="フッター プレースホルダー 4">
            <a:extLst>
              <a:ext uri="{FF2B5EF4-FFF2-40B4-BE49-F238E27FC236}">
                <a16:creationId xmlns:a16="http://schemas.microsoft.com/office/drawing/2014/main" id="{469A9CEB-2857-AC2E-FB00-79A5131F77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C9EF1451-B8BD-C420-E3A7-5EC0624CE5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5B1F76D-A8A9-48A1-B821-78499EFC096F}" type="slidenum">
              <a:rPr kumimoji="1" lang="ja-JP" altLang="en-US" smtClean="0"/>
              <a:t>‹#›</a:t>
            </a:fld>
            <a:endParaRPr kumimoji="1" lang="ja-JP" altLang="en-US"/>
          </a:p>
        </p:txBody>
      </p:sp>
    </p:spTree>
    <p:extLst>
      <p:ext uri="{BB962C8B-B14F-4D97-AF65-F5344CB8AC3E}">
        <p14:creationId xmlns:p14="http://schemas.microsoft.com/office/powerpoint/2010/main" val="34553351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04BCF8A-0572-F965-E07C-26CA812E0E22}"/>
              </a:ext>
            </a:extLst>
          </p:cNvPr>
          <p:cNvSpPr>
            <a:spLocks noGrp="1"/>
          </p:cNvSpPr>
          <p:nvPr>
            <p:ph type="ctrTitle"/>
          </p:nvPr>
        </p:nvSpPr>
        <p:spPr/>
        <p:txBody>
          <a:bodyPr/>
          <a:lstStyle/>
          <a:p>
            <a:r>
              <a:rPr kumimoji="1" lang="en-US" altLang="ja-JP" dirty="0" err="1"/>
              <a:t>FitNavi</a:t>
            </a:r>
            <a:r>
              <a:rPr lang="ja-JP" altLang="en-US" dirty="0"/>
              <a:t>制作の流れ</a:t>
            </a:r>
            <a:endParaRPr kumimoji="1" lang="ja-JP" altLang="en-US" dirty="0"/>
          </a:p>
        </p:txBody>
      </p:sp>
      <p:sp>
        <p:nvSpPr>
          <p:cNvPr id="3" name="字幕 2">
            <a:extLst>
              <a:ext uri="{FF2B5EF4-FFF2-40B4-BE49-F238E27FC236}">
                <a16:creationId xmlns:a16="http://schemas.microsoft.com/office/drawing/2014/main" id="{987459C5-BF43-BBCB-A7A7-10571B25C947}"/>
              </a:ext>
            </a:extLst>
          </p:cNvPr>
          <p:cNvSpPr>
            <a:spLocks noGrp="1"/>
          </p:cNvSpPr>
          <p:nvPr>
            <p:ph type="subTitle" idx="1"/>
          </p:nvPr>
        </p:nvSpPr>
        <p:spPr/>
        <p:txBody>
          <a:bodyPr/>
          <a:lstStyle/>
          <a:p>
            <a:r>
              <a:rPr kumimoji="1" lang="ja-JP" altLang="en-US" dirty="0"/>
              <a:t>地村　悠紀</a:t>
            </a:r>
          </a:p>
        </p:txBody>
      </p:sp>
    </p:spTree>
    <p:extLst>
      <p:ext uri="{BB962C8B-B14F-4D97-AF65-F5344CB8AC3E}">
        <p14:creationId xmlns:p14="http://schemas.microsoft.com/office/powerpoint/2010/main" val="2870211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1E080-B8A6-7B5C-CF4E-FC14355FAB21}"/>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9EDB5E18-04DB-3A37-DDEC-66EDAF8186FF}"/>
              </a:ext>
            </a:extLst>
          </p:cNvPr>
          <p:cNvSpPr>
            <a:spLocks noGrp="1"/>
          </p:cNvSpPr>
          <p:nvPr>
            <p:ph type="title"/>
          </p:nvPr>
        </p:nvSpPr>
        <p:spPr/>
        <p:txBody>
          <a:bodyPr/>
          <a:lstStyle/>
          <a:p>
            <a:r>
              <a:rPr lang="ja-JP" altLang="en-US" dirty="0"/>
              <a:t>目次</a:t>
            </a:r>
            <a:endParaRPr kumimoji="1" lang="ja-JP" altLang="en-US" dirty="0"/>
          </a:p>
        </p:txBody>
      </p:sp>
      <p:sp>
        <p:nvSpPr>
          <p:cNvPr id="2" name="テキスト ボックス 1">
            <a:extLst>
              <a:ext uri="{FF2B5EF4-FFF2-40B4-BE49-F238E27FC236}">
                <a16:creationId xmlns:a16="http://schemas.microsoft.com/office/drawing/2014/main" id="{0FF84587-482D-2D22-9F44-3791246B841B}"/>
              </a:ext>
            </a:extLst>
          </p:cNvPr>
          <p:cNvSpPr txBox="1"/>
          <p:nvPr/>
        </p:nvSpPr>
        <p:spPr>
          <a:xfrm>
            <a:off x="810595" y="1418679"/>
            <a:ext cx="5009705" cy="1754326"/>
          </a:xfrm>
          <a:prstGeom prst="rect">
            <a:avLst/>
          </a:prstGeom>
          <a:noFill/>
        </p:spPr>
        <p:txBody>
          <a:bodyPr wrap="none" rtlCol="0">
            <a:spAutoFit/>
          </a:bodyPr>
          <a:lstStyle/>
          <a:p>
            <a:r>
              <a:rPr lang="en-US" altLang="ja-JP" dirty="0"/>
              <a:t>Step 1: </a:t>
            </a:r>
            <a:r>
              <a:rPr lang="ja-JP" altLang="en-US" dirty="0"/>
              <a:t>企画・ターゲット選定（</a:t>
            </a:r>
            <a:r>
              <a:rPr lang="en-US" altLang="ja-JP" dirty="0"/>
              <a:t>Who &amp; Why</a:t>
            </a:r>
            <a:r>
              <a:rPr lang="ja-JP" altLang="en-US" dirty="0"/>
              <a:t>）</a:t>
            </a:r>
            <a:endParaRPr lang="en-US" altLang="ja-JP" dirty="0"/>
          </a:p>
          <a:p>
            <a:r>
              <a:rPr lang="en-US" altLang="ja-JP" dirty="0"/>
              <a:t>Step 2: </a:t>
            </a:r>
            <a:r>
              <a:rPr lang="ja-JP" altLang="en-US" dirty="0"/>
              <a:t>体験設計（</a:t>
            </a:r>
            <a:r>
              <a:rPr lang="en-US" altLang="ja-JP" dirty="0"/>
              <a:t>How</a:t>
            </a:r>
            <a:r>
              <a:rPr lang="ja-JP" altLang="en-US" dirty="0"/>
              <a:t>）</a:t>
            </a:r>
            <a:endParaRPr lang="en-US" altLang="ja-JP" dirty="0"/>
          </a:p>
          <a:p>
            <a:r>
              <a:rPr lang="en-US" altLang="ja-JP" dirty="0"/>
              <a:t>Step 3: MVP</a:t>
            </a:r>
            <a:r>
              <a:rPr lang="ja-JP" altLang="en-US" dirty="0"/>
              <a:t>の要件定義（</a:t>
            </a:r>
            <a:r>
              <a:rPr lang="en-US" altLang="ja-JP" dirty="0"/>
              <a:t>What</a:t>
            </a:r>
            <a:r>
              <a:rPr lang="ja-JP" altLang="en-US" dirty="0"/>
              <a:t>）</a:t>
            </a:r>
            <a:endParaRPr lang="en-US" altLang="ja-JP" dirty="0"/>
          </a:p>
          <a:p>
            <a:r>
              <a:rPr lang="en-US" altLang="ja-JP" dirty="0"/>
              <a:t>Step 4: UI/UX</a:t>
            </a:r>
            <a:r>
              <a:rPr lang="ja-JP" altLang="en-US" dirty="0"/>
              <a:t>デザイン</a:t>
            </a:r>
            <a:endParaRPr lang="en-US" altLang="ja-JP" dirty="0"/>
          </a:p>
          <a:p>
            <a:r>
              <a:rPr lang="en-US" altLang="ja-JP" dirty="0"/>
              <a:t>Step 5: </a:t>
            </a:r>
            <a:r>
              <a:rPr lang="ja-JP" altLang="en-US" dirty="0"/>
              <a:t>開発・実装</a:t>
            </a:r>
            <a:endParaRPr lang="en-US" altLang="ja-JP" dirty="0"/>
          </a:p>
          <a:p>
            <a:r>
              <a:rPr lang="en-US" altLang="ja-JP" dirty="0"/>
              <a:t>Step 6: </a:t>
            </a:r>
            <a:r>
              <a:rPr lang="ja-JP" altLang="en-US" dirty="0"/>
              <a:t>テスト・リリース・運用改善</a:t>
            </a:r>
            <a:endParaRPr kumimoji="1" lang="ja-JP" altLang="en-US" b="1" dirty="0"/>
          </a:p>
        </p:txBody>
      </p:sp>
    </p:spTree>
    <p:extLst>
      <p:ext uri="{BB962C8B-B14F-4D97-AF65-F5344CB8AC3E}">
        <p14:creationId xmlns:p14="http://schemas.microsoft.com/office/powerpoint/2010/main" val="22053751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38FE2-9960-C712-D79A-57ADF8BED2A7}"/>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321FB6A8-1F91-E594-F1E1-1839546211AA}"/>
              </a:ext>
            </a:extLst>
          </p:cNvPr>
          <p:cNvSpPr>
            <a:spLocks noGrp="1"/>
          </p:cNvSpPr>
          <p:nvPr>
            <p:ph type="title"/>
          </p:nvPr>
        </p:nvSpPr>
        <p:spPr/>
        <p:txBody>
          <a:bodyPr/>
          <a:lstStyle/>
          <a:p>
            <a:r>
              <a:rPr lang="en-US" altLang="ja-JP" dirty="0"/>
              <a:t>Step1 </a:t>
            </a:r>
            <a:r>
              <a:rPr lang="ja-JP" altLang="en-US" dirty="0"/>
              <a:t>企画・ターゲット選定</a:t>
            </a:r>
            <a:endParaRPr kumimoji="1" lang="ja-JP" altLang="en-US" dirty="0"/>
          </a:p>
        </p:txBody>
      </p:sp>
      <p:sp>
        <p:nvSpPr>
          <p:cNvPr id="2" name="テキスト ボックス 1">
            <a:extLst>
              <a:ext uri="{FF2B5EF4-FFF2-40B4-BE49-F238E27FC236}">
                <a16:creationId xmlns:a16="http://schemas.microsoft.com/office/drawing/2014/main" id="{98F870ED-8AD9-89DE-A6DD-25713BEE9C58}"/>
              </a:ext>
            </a:extLst>
          </p:cNvPr>
          <p:cNvSpPr txBox="1"/>
          <p:nvPr/>
        </p:nvSpPr>
        <p:spPr>
          <a:xfrm>
            <a:off x="360219" y="1063837"/>
            <a:ext cx="1723549" cy="400110"/>
          </a:xfrm>
          <a:prstGeom prst="rect">
            <a:avLst/>
          </a:prstGeom>
          <a:noFill/>
        </p:spPr>
        <p:txBody>
          <a:bodyPr wrap="none" rtlCol="0">
            <a:spAutoFit/>
          </a:bodyPr>
          <a:lstStyle/>
          <a:p>
            <a:r>
              <a:rPr lang="ja-JP" altLang="en-US" sz="2000" b="1" dirty="0"/>
              <a:t>ターゲット１</a:t>
            </a:r>
            <a:endParaRPr kumimoji="1" lang="ja-JP" altLang="en-US" sz="2000" b="1" dirty="0"/>
          </a:p>
        </p:txBody>
      </p:sp>
      <p:sp>
        <p:nvSpPr>
          <p:cNvPr id="4" name="テキスト ボックス 3">
            <a:extLst>
              <a:ext uri="{FF2B5EF4-FFF2-40B4-BE49-F238E27FC236}">
                <a16:creationId xmlns:a16="http://schemas.microsoft.com/office/drawing/2014/main" id="{D02A5839-6478-2319-C807-DAB6AB5A7956}"/>
              </a:ext>
            </a:extLst>
          </p:cNvPr>
          <p:cNvSpPr txBox="1"/>
          <p:nvPr/>
        </p:nvSpPr>
        <p:spPr>
          <a:xfrm>
            <a:off x="360219" y="1477415"/>
            <a:ext cx="11526981" cy="646331"/>
          </a:xfrm>
          <a:prstGeom prst="rect">
            <a:avLst/>
          </a:prstGeom>
          <a:noFill/>
        </p:spPr>
        <p:txBody>
          <a:bodyPr wrap="square" rtlCol="0">
            <a:spAutoFit/>
          </a:bodyPr>
          <a:lstStyle/>
          <a:p>
            <a:r>
              <a:rPr lang="ja-JP" altLang="en-US" dirty="0"/>
              <a:t>週</a:t>
            </a:r>
            <a:r>
              <a:rPr lang="en-US" altLang="ja-JP" dirty="0"/>
              <a:t>2〜3</a:t>
            </a:r>
            <a:r>
              <a:rPr lang="ja-JP" altLang="en-US" dirty="0"/>
              <a:t>回の筋トレ習慣があり、食事もある程度意識しているが、**「日々の</a:t>
            </a:r>
            <a:r>
              <a:rPr lang="en-US" altLang="ja-JP" dirty="0"/>
              <a:t>PFC</a:t>
            </a:r>
            <a:r>
              <a:rPr lang="ja-JP" altLang="en-US" dirty="0"/>
              <a:t>バランス（栄養）や疲労度に合わせて、自分で毎回最適なトレーニングメニューを組むのが面倒」**と感じている中級者。</a:t>
            </a:r>
            <a:endParaRPr lang="en-US" altLang="ja-JP" dirty="0"/>
          </a:p>
        </p:txBody>
      </p:sp>
      <p:sp>
        <p:nvSpPr>
          <p:cNvPr id="5" name="テキスト ボックス 4">
            <a:extLst>
              <a:ext uri="{FF2B5EF4-FFF2-40B4-BE49-F238E27FC236}">
                <a16:creationId xmlns:a16="http://schemas.microsoft.com/office/drawing/2014/main" id="{66A4C4C9-C315-8547-85FC-5E0E7A349D4D}"/>
              </a:ext>
            </a:extLst>
          </p:cNvPr>
          <p:cNvSpPr txBox="1"/>
          <p:nvPr/>
        </p:nvSpPr>
        <p:spPr>
          <a:xfrm>
            <a:off x="360219" y="2260325"/>
            <a:ext cx="1723549" cy="400110"/>
          </a:xfrm>
          <a:prstGeom prst="rect">
            <a:avLst/>
          </a:prstGeom>
          <a:noFill/>
        </p:spPr>
        <p:txBody>
          <a:bodyPr wrap="none" rtlCol="0">
            <a:spAutoFit/>
          </a:bodyPr>
          <a:lstStyle/>
          <a:p>
            <a:r>
              <a:rPr kumimoji="1" lang="ja-JP" altLang="en-US" sz="2000" b="1" dirty="0"/>
              <a:t>提供する体験</a:t>
            </a:r>
          </a:p>
        </p:txBody>
      </p:sp>
      <p:sp>
        <p:nvSpPr>
          <p:cNvPr id="6" name="テキスト ボックス 5">
            <a:extLst>
              <a:ext uri="{FF2B5EF4-FFF2-40B4-BE49-F238E27FC236}">
                <a16:creationId xmlns:a16="http://schemas.microsoft.com/office/drawing/2014/main" id="{CBDC0EAD-5AE8-5615-FFD6-65522DC0A0F4}"/>
              </a:ext>
            </a:extLst>
          </p:cNvPr>
          <p:cNvSpPr txBox="1"/>
          <p:nvPr/>
        </p:nvSpPr>
        <p:spPr>
          <a:xfrm>
            <a:off x="360219" y="2782669"/>
            <a:ext cx="10291739" cy="646331"/>
          </a:xfrm>
          <a:prstGeom prst="rect">
            <a:avLst/>
          </a:prstGeom>
          <a:noFill/>
        </p:spPr>
        <p:txBody>
          <a:bodyPr wrap="square" rtlCol="0">
            <a:spAutoFit/>
          </a:bodyPr>
          <a:lstStyle/>
          <a:p>
            <a:r>
              <a:rPr lang="ja-JP" altLang="en-US" dirty="0"/>
              <a:t>日々のトレーニング記録や食事記録、トレーニング環境、コンディションから最適な種目と回数を提示してくれる。</a:t>
            </a:r>
            <a:endParaRPr lang="en-US" altLang="ja-JP" dirty="0"/>
          </a:p>
        </p:txBody>
      </p:sp>
      <p:sp>
        <p:nvSpPr>
          <p:cNvPr id="7" name="テキスト ボックス 6">
            <a:extLst>
              <a:ext uri="{FF2B5EF4-FFF2-40B4-BE49-F238E27FC236}">
                <a16:creationId xmlns:a16="http://schemas.microsoft.com/office/drawing/2014/main" id="{D46A976F-D0E9-BB4F-0FE6-B52333408B30}"/>
              </a:ext>
            </a:extLst>
          </p:cNvPr>
          <p:cNvSpPr txBox="1"/>
          <p:nvPr/>
        </p:nvSpPr>
        <p:spPr>
          <a:xfrm>
            <a:off x="360219" y="3840550"/>
            <a:ext cx="441146" cy="400110"/>
          </a:xfrm>
          <a:prstGeom prst="rect">
            <a:avLst/>
          </a:prstGeom>
          <a:noFill/>
        </p:spPr>
        <p:txBody>
          <a:bodyPr wrap="none" rtlCol="0">
            <a:spAutoFit/>
          </a:bodyPr>
          <a:lstStyle/>
          <a:p>
            <a:r>
              <a:rPr kumimoji="1" lang="ja-JP" altLang="en-US" sz="2000" b="1" dirty="0"/>
              <a:t>例</a:t>
            </a:r>
          </a:p>
        </p:txBody>
      </p:sp>
      <p:sp>
        <p:nvSpPr>
          <p:cNvPr id="8" name="テキスト ボックス 7">
            <a:extLst>
              <a:ext uri="{FF2B5EF4-FFF2-40B4-BE49-F238E27FC236}">
                <a16:creationId xmlns:a16="http://schemas.microsoft.com/office/drawing/2014/main" id="{1166F966-D71F-91A5-C5E0-69EAEA17DADF}"/>
              </a:ext>
            </a:extLst>
          </p:cNvPr>
          <p:cNvSpPr txBox="1"/>
          <p:nvPr/>
        </p:nvSpPr>
        <p:spPr>
          <a:xfrm>
            <a:off x="1688788" y="4040605"/>
            <a:ext cx="4365298" cy="1200329"/>
          </a:xfrm>
          <a:prstGeom prst="rect">
            <a:avLst/>
          </a:prstGeom>
          <a:noFill/>
        </p:spPr>
        <p:txBody>
          <a:bodyPr wrap="none" rtlCol="0">
            <a:spAutoFit/>
          </a:bodyPr>
          <a:lstStyle/>
          <a:p>
            <a:r>
              <a:rPr kumimoji="1" lang="ja-JP" altLang="en-US" dirty="0"/>
              <a:t>トレーニング環境　自重</a:t>
            </a:r>
            <a:endParaRPr kumimoji="1" lang="en-US" altLang="ja-JP" dirty="0"/>
          </a:p>
          <a:p>
            <a:r>
              <a:rPr kumimoji="1" lang="ja-JP" altLang="en-US" dirty="0"/>
              <a:t>コンディション　良好</a:t>
            </a:r>
            <a:endParaRPr kumimoji="1" lang="en-US" altLang="ja-JP" dirty="0"/>
          </a:p>
          <a:p>
            <a:r>
              <a:rPr lang="ja-JP" altLang="en-US" dirty="0"/>
              <a:t>トレーニング時間　</a:t>
            </a:r>
            <a:r>
              <a:rPr lang="en-US" altLang="ja-JP" dirty="0"/>
              <a:t>45</a:t>
            </a:r>
            <a:r>
              <a:rPr lang="ja-JP" altLang="en-US" dirty="0"/>
              <a:t>分（おすすめ可）</a:t>
            </a:r>
            <a:endParaRPr lang="en-US" altLang="ja-JP" dirty="0"/>
          </a:p>
          <a:p>
            <a:r>
              <a:rPr lang="ja-JP" altLang="en-US" dirty="0"/>
              <a:t>鍛えたい部位　胸部（おすすめ可）</a:t>
            </a:r>
            <a:endParaRPr lang="en-US" altLang="ja-JP" dirty="0"/>
          </a:p>
        </p:txBody>
      </p:sp>
      <p:sp>
        <p:nvSpPr>
          <p:cNvPr id="9" name="矢印: 右 8">
            <a:extLst>
              <a:ext uri="{FF2B5EF4-FFF2-40B4-BE49-F238E27FC236}">
                <a16:creationId xmlns:a16="http://schemas.microsoft.com/office/drawing/2014/main" id="{97E5BEE7-635C-1BA1-2015-E0E1030A7A9D}"/>
              </a:ext>
            </a:extLst>
          </p:cNvPr>
          <p:cNvSpPr/>
          <p:nvPr/>
        </p:nvSpPr>
        <p:spPr>
          <a:xfrm>
            <a:off x="5876610" y="4839734"/>
            <a:ext cx="438780" cy="29348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十字形 9">
            <a:extLst>
              <a:ext uri="{FF2B5EF4-FFF2-40B4-BE49-F238E27FC236}">
                <a16:creationId xmlns:a16="http://schemas.microsoft.com/office/drawing/2014/main" id="{8F6AC84F-F8D2-8889-A23C-7852D2E4665F}"/>
              </a:ext>
            </a:extLst>
          </p:cNvPr>
          <p:cNvSpPr/>
          <p:nvPr/>
        </p:nvSpPr>
        <p:spPr>
          <a:xfrm>
            <a:off x="2551654" y="5380585"/>
            <a:ext cx="355795" cy="339847"/>
          </a:xfrm>
          <a:prstGeom prst="plus">
            <a:avLst>
              <a:gd name="adj" fmla="val 362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69B01220-E5D1-9B27-0D54-254AF1D18EC1}"/>
              </a:ext>
            </a:extLst>
          </p:cNvPr>
          <p:cNvSpPr txBox="1"/>
          <p:nvPr/>
        </p:nvSpPr>
        <p:spPr>
          <a:xfrm>
            <a:off x="1713890" y="5871883"/>
            <a:ext cx="2031325" cy="646331"/>
          </a:xfrm>
          <a:prstGeom prst="rect">
            <a:avLst/>
          </a:prstGeom>
          <a:noFill/>
        </p:spPr>
        <p:txBody>
          <a:bodyPr wrap="none" rtlCol="0">
            <a:spAutoFit/>
          </a:bodyPr>
          <a:lstStyle/>
          <a:p>
            <a:r>
              <a:rPr kumimoji="1" lang="ja-JP" altLang="en-US" dirty="0"/>
              <a:t>トレーニング記録</a:t>
            </a:r>
            <a:endParaRPr kumimoji="1" lang="en-US" altLang="ja-JP" dirty="0"/>
          </a:p>
          <a:p>
            <a:r>
              <a:rPr lang="ja-JP" altLang="en-US" dirty="0"/>
              <a:t>食事記録</a:t>
            </a:r>
            <a:endParaRPr kumimoji="1" lang="ja-JP" altLang="en-US" dirty="0"/>
          </a:p>
        </p:txBody>
      </p:sp>
      <p:sp>
        <p:nvSpPr>
          <p:cNvPr id="12" name="テキスト ボックス 11">
            <a:extLst>
              <a:ext uri="{FF2B5EF4-FFF2-40B4-BE49-F238E27FC236}">
                <a16:creationId xmlns:a16="http://schemas.microsoft.com/office/drawing/2014/main" id="{FC33D8F3-4C3C-2590-604B-77D8499AD3D6}"/>
              </a:ext>
            </a:extLst>
          </p:cNvPr>
          <p:cNvSpPr txBox="1"/>
          <p:nvPr/>
        </p:nvSpPr>
        <p:spPr>
          <a:xfrm>
            <a:off x="580792" y="6010382"/>
            <a:ext cx="1107996" cy="369332"/>
          </a:xfrm>
          <a:prstGeom prst="rect">
            <a:avLst/>
          </a:prstGeom>
          <a:noFill/>
        </p:spPr>
        <p:txBody>
          <a:bodyPr wrap="none" rtlCol="0">
            <a:spAutoFit/>
          </a:bodyPr>
          <a:lstStyle/>
          <a:p>
            <a:r>
              <a:rPr kumimoji="1" lang="ja-JP" altLang="en-US" b="1" dirty="0"/>
              <a:t>入力不要</a:t>
            </a:r>
          </a:p>
        </p:txBody>
      </p:sp>
      <p:sp>
        <p:nvSpPr>
          <p:cNvPr id="13" name="テキスト ボックス 12">
            <a:extLst>
              <a:ext uri="{FF2B5EF4-FFF2-40B4-BE49-F238E27FC236}">
                <a16:creationId xmlns:a16="http://schemas.microsoft.com/office/drawing/2014/main" id="{E47D9141-82CD-CD3D-44A1-A0AFB43ECAFF}"/>
              </a:ext>
            </a:extLst>
          </p:cNvPr>
          <p:cNvSpPr txBox="1"/>
          <p:nvPr/>
        </p:nvSpPr>
        <p:spPr>
          <a:xfrm>
            <a:off x="617550" y="4506812"/>
            <a:ext cx="1107996" cy="369332"/>
          </a:xfrm>
          <a:prstGeom prst="rect">
            <a:avLst/>
          </a:prstGeom>
          <a:noFill/>
        </p:spPr>
        <p:txBody>
          <a:bodyPr wrap="none" rtlCol="0">
            <a:spAutoFit/>
          </a:bodyPr>
          <a:lstStyle/>
          <a:p>
            <a:r>
              <a:rPr kumimoji="1" lang="ja-JP" altLang="en-US" b="1" dirty="0"/>
              <a:t>入力必要</a:t>
            </a:r>
          </a:p>
        </p:txBody>
      </p:sp>
      <p:sp>
        <p:nvSpPr>
          <p:cNvPr id="16" name="テキスト ボックス 15">
            <a:extLst>
              <a:ext uri="{FF2B5EF4-FFF2-40B4-BE49-F238E27FC236}">
                <a16:creationId xmlns:a16="http://schemas.microsoft.com/office/drawing/2014/main" id="{2BDBB8E8-A10E-4317-0552-1BD557CD46DF}"/>
              </a:ext>
            </a:extLst>
          </p:cNvPr>
          <p:cNvSpPr txBox="1"/>
          <p:nvPr/>
        </p:nvSpPr>
        <p:spPr>
          <a:xfrm>
            <a:off x="6407418" y="3702058"/>
            <a:ext cx="5647700" cy="2862322"/>
          </a:xfrm>
          <a:prstGeom prst="rect">
            <a:avLst/>
          </a:prstGeom>
          <a:noFill/>
        </p:spPr>
        <p:txBody>
          <a:bodyPr wrap="none" rtlCol="0">
            <a:spAutoFit/>
          </a:bodyPr>
          <a:lstStyle/>
          <a:p>
            <a:r>
              <a:rPr kumimoji="1" lang="ja-JP" altLang="en-US" dirty="0"/>
              <a:t>種目１：デクライン・プッシュアップ　</a:t>
            </a:r>
            <a:r>
              <a:rPr kumimoji="1" lang="en-US" altLang="ja-JP" dirty="0"/>
              <a:t>10</a:t>
            </a:r>
            <a:r>
              <a:rPr kumimoji="1" lang="ja-JP" altLang="en-US" dirty="0"/>
              <a:t>回</a:t>
            </a:r>
            <a:r>
              <a:rPr kumimoji="1" lang="en-US" altLang="ja-JP" dirty="0"/>
              <a:t>3</a:t>
            </a:r>
            <a:r>
              <a:rPr kumimoji="1" lang="ja-JP" altLang="en-US" dirty="0"/>
              <a:t>セット</a:t>
            </a:r>
            <a:endParaRPr lang="en-US" altLang="ja-JP" dirty="0"/>
          </a:p>
          <a:p>
            <a:r>
              <a:rPr kumimoji="1" lang="en-US" altLang="ja-JP" dirty="0"/>
              <a:t>	</a:t>
            </a:r>
            <a:r>
              <a:rPr kumimoji="1" lang="ja-JP" altLang="en-US" dirty="0"/>
              <a:t>セット間インターバル　</a:t>
            </a:r>
            <a:r>
              <a:rPr kumimoji="1" lang="en-US" altLang="ja-JP" dirty="0"/>
              <a:t>1</a:t>
            </a:r>
            <a:r>
              <a:rPr kumimoji="1" lang="ja-JP" altLang="en-US" dirty="0"/>
              <a:t>分</a:t>
            </a:r>
            <a:endParaRPr kumimoji="1" lang="en-US" altLang="ja-JP" dirty="0"/>
          </a:p>
          <a:p>
            <a:r>
              <a:rPr lang="ja-JP" altLang="en-US" dirty="0"/>
              <a:t>種目２：ネガティブ・プッシュアップ　</a:t>
            </a:r>
            <a:r>
              <a:rPr lang="en-US" altLang="ja-JP" dirty="0"/>
              <a:t>10</a:t>
            </a:r>
            <a:r>
              <a:rPr lang="ja-JP" altLang="en-US" dirty="0"/>
              <a:t>回</a:t>
            </a:r>
            <a:r>
              <a:rPr lang="en-US" altLang="ja-JP" dirty="0"/>
              <a:t>3</a:t>
            </a:r>
            <a:r>
              <a:rPr lang="ja-JP" altLang="en-US" dirty="0"/>
              <a:t>セット</a:t>
            </a:r>
            <a:endParaRPr lang="en-US" altLang="ja-JP" dirty="0"/>
          </a:p>
          <a:p>
            <a:r>
              <a:rPr kumimoji="1" lang="en-US" altLang="ja-JP" dirty="0"/>
              <a:t>	</a:t>
            </a:r>
            <a:r>
              <a:rPr kumimoji="1" lang="ja-JP" altLang="en-US" dirty="0"/>
              <a:t>セット間</a:t>
            </a:r>
            <a:r>
              <a:rPr lang="ja-JP" altLang="en-US" dirty="0"/>
              <a:t>インターバル　１分</a:t>
            </a:r>
            <a:r>
              <a:rPr lang="en-US" altLang="ja-JP" dirty="0"/>
              <a:t>30</a:t>
            </a:r>
            <a:r>
              <a:rPr lang="ja-JP" altLang="en-US" dirty="0"/>
              <a:t>秒</a:t>
            </a:r>
            <a:endParaRPr lang="en-US" altLang="ja-JP" dirty="0"/>
          </a:p>
          <a:p>
            <a:r>
              <a:rPr kumimoji="1" lang="ja-JP" altLang="en-US" dirty="0"/>
              <a:t>種目３：ダイヤモンドプッシュアップ　</a:t>
            </a:r>
            <a:r>
              <a:rPr lang="en-US" altLang="ja-JP" dirty="0"/>
              <a:t>5</a:t>
            </a:r>
            <a:r>
              <a:rPr lang="ja-JP" altLang="en-US" dirty="0"/>
              <a:t>回</a:t>
            </a:r>
            <a:r>
              <a:rPr lang="en-US" altLang="ja-JP" dirty="0"/>
              <a:t>3</a:t>
            </a:r>
            <a:r>
              <a:rPr lang="ja-JP" altLang="en-US" dirty="0"/>
              <a:t>セット</a:t>
            </a:r>
            <a:endParaRPr lang="en-US" altLang="ja-JP" dirty="0"/>
          </a:p>
          <a:p>
            <a:r>
              <a:rPr kumimoji="1" lang="en-US" altLang="ja-JP" dirty="0"/>
              <a:t>	</a:t>
            </a:r>
            <a:r>
              <a:rPr kumimoji="1" lang="ja-JP" altLang="en-US" dirty="0"/>
              <a:t>セット間インターバル　</a:t>
            </a:r>
            <a:r>
              <a:rPr kumimoji="1" lang="en-US" altLang="ja-JP" dirty="0"/>
              <a:t>1</a:t>
            </a:r>
            <a:r>
              <a:rPr kumimoji="1" lang="ja-JP" altLang="en-US" dirty="0"/>
              <a:t>分</a:t>
            </a:r>
            <a:endParaRPr kumimoji="1" lang="en-US" altLang="ja-JP" dirty="0"/>
          </a:p>
          <a:p>
            <a:r>
              <a:rPr lang="ja-JP" altLang="en-US" dirty="0"/>
              <a:t>種目４：チェア・ディップス　</a:t>
            </a:r>
            <a:r>
              <a:rPr lang="en-US" altLang="ja-JP" dirty="0"/>
              <a:t>8</a:t>
            </a:r>
            <a:r>
              <a:rPr lang="ja-JP" altLang="en-US" dirty="0"/>
              <a:t>回</a:t>
            </a:r>
            <a:r>
              <a:rPr lang="en-US" altLang="ja-JP" dirty="0"/>
              <a:t>3</a:t>
            </a:r>
            <a:r>
              <a:rPr lang="ja-JP" altLang="en-US" dirty="0"/>
              <a:t>セット</a:t>
            </a:r>
            <a:endParaRPr lang="en-US" altLang="ja-JP" dirty="0"/>
          </a:p>
          <a:p>
            <a:r>
              <a:rPr kumimoji="1" lang="en-US" altLang="ja-JP" dirty="0"/>
              <a:t>	</a:t>
            </a:r>
            <a:r>
              <a:rPr kumimoji="1" lang="ja-JP" altLang="en-US" dirty="0"/>
              <a:t>セット間</a:t>
            </a:r>
            <a:r>
              <a:rPr lang="ja-JP" altLang="en-US" dirty="0"/>
              <a:t>インターバル　</a:t>
            </a:r>
            <a:r>
              <a:rPr lang="en-US" altLang="ja-JP" dirty="0"/>
              <a:t>1</a:t>
            </a:r>
            <a:r>
              <a:rPr lang="ja-JP" altLang="en-US" dirty="0"/>
              <a:t>分</a:t>
            </a:r>
            <a:endParaRPr lang="en-US" altLang="ja-JP" dirty="0"/>
          </a:p>
          <a:p>
            <a:endParaRPr kumimoji="1" lang="en-US" altLang="ja-JP" dirty="0"/>
          </a:p>
          <a:p>
            <a:r>
              <a:rPr lang="ja-JP" altLang="en-US" dirty="0"/>
              <a:t>達成度記録→</a:t>
            </a:r>
            <a:r>
              <a:rPr lang="en-US" altLang="ja-JP" dirty="0"/>
              <a:t>AI</a:t>
            </a:r>
            <a:r>
              <a:rPr lang="ja-JP" altLang="en-US" dirty="0"/>
              <a:t>コメント</a:t>
            </a:r>
            <a:endParaRPr kumimoji="1" lang="ja-JP" altLang="en-US" dirty="0"/>
          </a:p>
        </p:txBody>
      </p:sp>
    </p:spTree>
    <p:extLst>
      <p:ext uri="{BB962C8B-B14F-4D97-AF65-F5344CB8AC3E}">
        <p14:creationId xmlns:p14="http://schemas.microsoft.com/office/powerpoint/2010/main" val="1276199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9D960-8714-16DC-B55B-BE6CC51F8FA1}"/>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4911FFD2-2516-9B55-AACA-E8A1FE2D18B1}"/>
              </a:ext>
            </a:extLst>
          </p:cNvPr>
          <p:cNvSpPr>
            <a:spLocks noGrp="1"/>
          </p:cNvSpPr>
          <p:nvPr>
            <p:ph type="title"/>
          </p:nvPr>
        </p:nvSpPr>
        <p:spPr/>
        <p:txBody>
          <a:bodyPr/>
          <a:lstStyle/>
          <a:p>
            <a:r>
              <a:rPr lang="en-US" altLang="ja-JP" dirty="0"/>
              <a:t>Step1 </a:t>
            </a:r>
            <a:r>
              <a:rPr lang="ja-JP" altLang="en-US" dirty="0"/>
              <a:t>企画・ターゲット選定</a:t>
            </a:r>
            <a:endParaRPr kumimoji="1" lang="ja-JP" altLang="en-US" dirty="0"/>
          </a:p>
        </p:txBody>
      </p:sp>
      <p:sp>
        <p:nvSpPr>
          <p:cNvPr id="2" name="テキスト ボックス 1">
            <a:extLst>
              <a:ext uri="{FF2B5EF4-FFF2-40B4-BE49-F238E27FC236}">
                <a16:creationId xmlns:a16="http://schemas.microsoft.com/office/drawing/2014/main" id="{10AC71E9-AF02-2C23-C10B-FE6D416B43C5}"/>
              </a:ext>
            </a:extLst>
          </p:cNvPr>
          <p:cNvSpPr txBox="1"/>
          <p:nvPr/>
        </p:nvSpPr>
        <p:spPr>
          <a:xfrm>
            <a:off x="360219" y="1001580"/>
            <a:ext cx="1723549" cy="400110"/>
          </a:xfrm>
          <a:prstGeom prst="rect">
            <a:avLst/>
          </a:prstGeom>
          <a:noFill/>
        </p:spPr>
        <p:txBody>
          <a:bodyPr wrap="none" rtlCol="0">
            <a:spAutoFit/>
          </a:bodyPr>
          <a:lstStyle/>
          <a:p>
            <a:r>
              <a:rPr lang="ja-JP" altLang="en-US" sz="2000" b="1" dirty="0"/>
              <a:t>ターゲット１</a:t>
            </a:r>
            <a:endParaRPr kumimoji="1" lang="ja-JP" altLang="en-US" sz="2000" b="1" dirty="0"/>
          </a:p>
        </p:txBody>
      </p:sp>
      <p:sp>
        <p:nvSpPr>
          <p:cNvPr id="4" name="テキスト ボックス 3">
            <a:extLst>
              <a:ext uri="{FF2B5EF4-FFF2-40B4-BE49-F238E27FC236}">
                <a16:creationId xmlns:a16="http://schemas.microsoft.com/office/drawing/2014/main" id="{3F1E9CB4-6A08-95B1-862B-6C0F2F0BEF54}"/>
              </a:ext>
            </a:extLst>
          </p:cNvPr>
          <p:cNvSpPr txBox="1"/>
          <p:nvPr/>
        </p:nvSpPr>
        <p:spPr>
          <a:xfrm>
            <a:off x="360219" y="1477415"/>
            <a:ext cx="11526981" cy="4075090"/>
          </a:xfrm>
          <a:prstGeom prst="rect">
            <a:avLst/>
          </a:prstGeom>
          <a:noFill/>
        </p:spPr>
        <p:txBody>
          <a:bodyPr wrap="square" rtlCol="0">
            <a:spAutoFit/>
          </a:bodyPr>
          <a:lstStyle/>
          <a:p>
            <a:pPr>
              <a:lnSpc>
                <a:spcPts val="2600"/>
              </a:lnSpc>
            </a:pPr>
            <a:r>
              <a:rPr lang="en-US" altLang="ja-JP" b="1" dirty="0"/>
              <a:t>1. </a:t>
            </a:r>
            <a:r>
              <a:rPr lang="ja-JP" altLang="en-US" b="1" dirty="0"/>
              <a:t>基本情報（デモグラフィック）</a:t>
            </a:r>
          </a:p>
          <a:p>
            <a:pPr>
              <a:lnSpc>
                <a:spcPts val="2600"/>
              </a:lnSpc>
            </a:pPr>
            <a:r>
              <a:rPr lang="ja-JP" altLang="en-US" b="1" dirty="0"/>
              <a:t>名前</a:t>
            </a:r>
            <a:r>
              <a:rPr lang="en-US" altLang="ja-JP" b="1" dirty="0"/>
              <a:t>:</a:t>
            </a:r>
            <a:r>
              <a:rPr lang="ja-JP" altLang="en-US" dirty="0"/>
              <a:t> 鈴木 拓也（</a:t>
            </a:r>
            <a:r>
              <a:rPr lang="en-US" altLang="ja-JP" dirty="0"/>
              <a:t>20</a:t>
            </a:r>
            <a:r>
              <a:rPr lang="ja-JP" altLang="en-US" dirty="0"/>
              <a:t>歳）</a:t>
            </a:r>
          </a:p>
          <a:p>
            <a:pPr>
              <a:lnSpc>
                <a:spcPts val="2600"/>
              </a:lnSpc>
            </a:pPr>
            <a:r>
              <a:rPr lang="ja-JP" altLang="en-US" b="1" dirty="0"/>
              <a:t>属性</a:t>
            </a:r>
            <a:r>
              <a:rPr lang="en-US" altLang="ja-JP" b="1" dirty="0"/>
              <a:t>:</a:t>
            </a:r>
            <a:r>
              <a:rPr lang="ja-JP" altLang="en-US" dirty="0"/>
              <a:t> 私立大学の</a:t>
            </a:r>
            <a:r>
              <a:rPr lang="en-US" altLang="ja-JP" dirty="0"/>
              <a:t>2</a:t>
            </a:r>
            <a:r>
              <a:rPr lang="ja-JP" altLang="en-US" dirty="0"/>
              <a:t>年生（文系）。週</a:t>
            </a:r>
            <a:r>
              <a:rPr lang="en-US" altLang="ja-JP" dirty="0"/>
              <a:t>3</a:t>
            </a:r>
            <a:r>
              <a:rPr lang="ja-JP" altLang="en-US" dirty="0"/>
              <a:t>日は居酒屋やカフェでアルバイト。</a:t>
            </a:r>
          </a:p>
          <a:p>
            <a:pPr>
              <a:lnSpc>
                <a:spcPts val="2600"/>
              </a:lnSpc>
            </a:pPr>
            <a:r>
              <a:rPr lang="ja-JP" altLang="en-US" b="1" dirty="0"/>
              <a:t>ライフスタイル</a:t>
            </a:r>
            <a:r>
              <a:rPr lang="en-US" altLang="ja-JP" b="1" dirty="0"/>
              <a:t>:</a:t>
            </a:r>
            <a:r>
              <a:rPr lang="ja-JP" altLang="en-US" dirty="0"/>
              <a:t> 授業の空きコマやバイトの前に、近所の安い</a:t>
            </a:r>
            <a:r>
              <a:rPr lang="en-US" altLang="ja-JP" dirty="0"/>
              <a:t>24</a:t>
            </a:r>
            <a:r>
              <a:rPr lang="ja-JP" altLang="en-US" dirty="0"/>
              <a:t>時間ジム（または大学のトレーニングルーム）に通っている。お金はないが時間は比較的ある。</a:t>
            </a:r>
            <a:endParaRPr lang="en-US" altLang="ja-JP" dirty="0"/>
          </a:p>
          <a:p>
            <a:pPr>
              <a:lnSpc>
                <a:spcPts val="2600"/>
              </a:lnSpc>
            </a:pPr>
            <a:endParaRPr lang="ja-JP" altLang="en-US" dirty="0"/>
          </a:p>
          <a:p>
            <a:pPr>
              <a:lnSpc>
                <a:spcPts val="2600"/>
              </a:lnSpc>
            </a:pPr>
            <a:r>
              <a:rPr lang="en-US" altLang="ja-JP" b="1" dirty="0"/>
              <a:t>2. </a:t>
            </a:r>
            <a:r>
              <a:rPr lang="ja-JP" altLang="en-US" b="1" dirty="0"/>
              <a:t>フィットネスレベルと習慣（現状）</a:t>
            </a:r>
          </a:p>
          <a:p>
            <a:pPr>
              <a:lnSpc>
                <a:spcPts val="2600"/>
              </a:lnSpc>
            </a:pPr>
            <a:r>
              <a:rPr lang="ja-JP" altLang="en-US" b="1" dirty="0"/>
              <a:t>筋トレ歴</a:t>
            </a:r>
            <a:r>
              <a:rPr lang="en-US" altLang="ja-JP" b="1" dirty="0"/>
              <a:t>:</a:t>
            </a:r>
            <a:r>
              <a:rPr lang="ja-JP" altLang="en-US" dirty="0"/>
              <a:t> 半年。最初の</a:t>
            </a:r>
            <a:r>
              <a:rPr lang="en-US" altLang="ja-JP" dirty="0"/>
              <a:t>3</a:t>
            </a:r>
            <a:r>
              <a:rPr lang="ja-JP" altLang="en-US" dirty="0"/>
              <a:t>ヶ月で少し体に変化があったが、最近は停滞気味。</a:t>
            </a:r>
          </a:p>
          <a:p>
            <a:pPr>
              <a:lnSpc>
                <a:spcPts val="2600"/>
              </a:lnSpc>
            </a:pPr>
            <a:r>
              <a:rPr lang="ja-JP" altLang="en-US" b="1" dirty="0"/>
              <a:t>頻度と内容</a:t>
            </a:r>
            <a:r>
              <a:rPr lang="en-US" altLang="ja-JP" b="1" dirty="0"/>
              <a:t>:</a:t>
            </a:r>
            <a:r>
              <a:rPr lang="ja-JP" altLang="en-US" dirty="0"/>
              <a:t> 週</a:t>
            </a:r>
            <a:r>
              <a:rPr lang="en-US" altLang="ja-JP" dirty="0"/>
              <a:t>2〜3</a:t>
            </a:r>
            <a:r>
              <a:rPr lang="ja-JP" altLang="en-US" dirty="0"/>
              <a:t>回ジムに行く習慣は完全に定着している。しかし、メニューは「空いているマシンを適当に順番にやるだけ」か「見よう見まねのダンベル」。</a:t>
            </a:r>
          </a:p>
          <a:p>
            <a:pPr>
              <a:lnSpc>
                <a:spcPts val="2600"/>
              </a:lnSpc>
            </a:pPr>
            <a:r>
              <a:rPr lang="ja-JP" altLang="en-US" b="1" dirty="0"/>
              <a:t>食事・知識</a:t>
            </a:r>
            <a:r>
              <a:rPr lang="en-US" altLang="ja-JP" b="1" dirty="0"/>
              <a:t>:</a:t>
            </a:r>
            <a:r>
              <a:rPr lang="ja-JP" altLang="en-US" dirty="0"/>
              <a:t> プロテインは毎日飲んでいる。しかし、普段の食事は「学食のラーメン」「すき家の牛丼」「バイト先のまかない（揚げ物）」が多く、タンパク質以外の</a:t>
            </a:r>
            <a:r>
              <a:rPr lang="en-US" altLang="ja-JP" dirty="0"/>
              <a:t>PFC</a:t>
            </a:r>
            <a:r>
              <a:rPr lang="ja-JP" altLang="en-US" dirty="0"/>
              <a:t>バランスはボロボロ。</a:t>
            </a:r>
          </a:p>
        </p:txBody>
      </p:sp>
    </p:spTree>
    <p:extLst>
      <p:ext uri="{BB962C8B-B14F-4D97-AF65-F5344CB8AC3E}">
        <p14:creationId xmlns:p14="http://schemas.microsoft.com/office/powerpoint/2010/main" val="42436418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2E858-9DA9-C5C9-0B02-80B273461364}"/>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208C36E1-716A-5745-5F97-B6D1FDEC1819}"/>
              </a:ext>
            </a:extLst>
          </p:cNvPr>
          <p:cNvSpPr>
            <a:spLocks noGrp="1"/>
          </p:cNvSpPr>
          <p:nvPr>
            <p:ph type="title"/>
          </p:nvPr>
        </p:nvSpPr>
        <p:spPr/>
        <p:txBody>
          <a:bodyPr/>
          <a:lstStyle/>
          <a:p>
            <a:r>
              <a:rPr lang="en-US" altLang="ja-JP" dirty="0"/>
              <a:t>Step1 </a:t>
            </a:r>
            <a:r>
              <a:rPr lang="ja-JP" altLang="en-US" dirty="0"/>
              <a:t>企画・ターゲット選定</a:t>
            </a:r>
            <a:endParaRPr kumimoji="1" lang="ja-JP" altLang="en-US" dirty="0"/>
          </a:p>
        </p:txBody>
      </p:sp>
      <p:sp>
        <p:nvSpPr>
          <p:cNvPr id="2" name="テキスト ボックス 1">
            <a:extLst>
              <a:ext uri="{FF2B5EF4-FFF2-40B4-BE49-F238E27FC236}">
                <a16:creationId xmlns:a16="http://schemas.microsoft.com/office/drawing/2014/main" id="{4ECE0516-D07F-CB4A-C47A-9FA4CC6FA643}"/>
              </a:ext>
            </a:extLst>
          </p:cNvPr>
          <p:cNvSpPr txBox="1"/>
          <p:nvPr/>
        </p:nvSpPr>
        <p:spPr>
          <a:xfrm>
            <a:off x="360219" y="1001580"/>
            <a:ext cx="1723549" cy="400110"/>
          </a:xfrm>
          <a:prstGeom prst="rect">
            <a:avLst/>
          </a:prstGeom>
          <a:noFill/>
        </p:spPr>
        <p:txBody>
          <a:bodyPr wrap="none" rtlCol="0">
            <a:spAutoFit/>
          </a:bodyPr>
          <a:lstStyle/>
          <a:p>
            <a:r>
              <a:rPr lang="ja-JP" altLang="en-US" sz="2000" b="1" dirty="0"/>
              <a:t>ターゲット１</a:t>
            </a:r>
            <a:endParaRPr kumimoji="1" lang="ja-JP" altLang="en-US" sz="2000" b="1" dirty="0"/>
          </a:p>
        </p:txBody>
      </p:sp>
      <p:sp>
        <p:nvSpPr>
          <p:cNvPr id="4" name="テキスト ボックス 3">
            <a:extLst>
              <a:ext uri="{FF2B5EF4-FFF2-40B4-BE49-F238E27FC236}">
                <a16:creationId xmlns:a16="http://schemas.microsoft.com/office/drawing/2014/main" id="{AFD72580-7B09-186C-E04C-55CC1398AA63}"/>
              </a:ext>
            </a:extLst>
          </p:cNvPr>
          <p:cNvSpPr txBox="1"/>
          <p:nvPr/>
        </p:nvSpPr>
        <p:spPr>
          <a:xfrm>
            <a:off x="360219" y="1477415"/>
            <a:ext cx="11526981" cy="5408788"/>
          </a:xfrm>
          <a:prstGeom prst="rect">
            <a:avLst/>
          </a:prstGeom>
          <a:noFill/>
        </p:spPr>
        <p:txBody>
          <a:bodyPr wrap="square" rtlCol="0">
            <a:spAutoFit/>
          </a:bodyPr>
          <a:lstStyle/>
          <a:p>
            <a:pPr>
              <a:lnSpc>
                <a:spcPts val="2600"/>
              </a:lnSpc>
            </a:pPr>
            <a:r>
              <a:rPr lang="en-US" altLang="ja-JP" b="1" dirty="0"/>
              <a:t>3. </a:t>
            </a:r>
            <a:r>
              <a:rPr lang="ja-JP" altLang="en-US" b="1" dirty="0"/>
              <a:t>抱えている強烈なペイン（不満・課題）</a:t>
            </a:r>
          </a:p>
          <a:p>
            <a:pPr>
              <a:lnSpc>
                <a:spcPts val="2600"/>
              </a:lnSpc>
            </a:pPr>
            <a:r>
              <a:rPr lang="ja-JP" altLang="en-US" b="1" dirty="0"/>
              <a:t>情報の波に溺れている</a:t>
            </a:r>
            <a:r>
              <a:rPr lang="en-US" altLang="ja-JP" b="1" dirty="0"/>
              <a:t>:</a:t>
            </a:r>
            <a:r>
              <a:rPr lang="ja-JP" altLang="en-US" dirty="0"/>
              <a:t> </a:t>
            </a:r>
            <a:r>
              <a:rPr lang="en-US" altLang="ja-JP" dirty="0"/>
              <a:t>YouTube</a:t>
            </a:r>
            <a:r>
              <a:rPr lang="ja-JP" altLang="en-US" dirty="0"/>
              <a:t>や</a:t>
            </a:r>
            <a:r>
              <a:rPr lang="en-US" altLang="ja-JP" dirty="0"/>
              <a:t>TikTok</a:t>
            </a:r>
            <a:r>
              <a:rPr lang="ja-JP" altLang="en-US" dirty="0"/>
              <a:t>で筋トレ動画を見漁っているが、「</a:t>
            </a:r>
            <a:r>
              <a:rPr lang="en-US" altLang="ja-JP" dirty="0"/>
              <a:t>10</a:t>
            </a:r>
            <a:r>
              <a:rPr lang="ja-JP" altLang="en-US" dirty="0"/>
              <a:t>回</a:t>
            </a:r>
            <a:r>
              <a:rPr lang="en-US" altLang="ja-JP" dirty="0"/>
              <a:t>3</a:t>
            </a:r>
            <a:r>
              <a:rPr lang="ja-JP" altLang="en-US" dirty="0"/>
              <a:t>セットが基本」「いや、重いものを</a:t>
            </a:r>
            <a:r>
              <a:rPr lang="en-US" altLang="ja-JP" dirty="0"/>
              <a:t>3</a:t>
            </a:r>
            <a:r>
              <a:rPr lang="ja-JP" altLang="en-US" dirty="0"/>
              <a:t>回上げろ」「マシンは意味ない」など</a:t>
            </a:r>
            <a:r>
              <a:rPr lang="ja-JP" altLang="en-US" b="1" dirty="0"/>
              <a:t>情報が矛盾しており、結局「今の自分」は何をやるのが正解なのかが分からない。</a:t>
            </a:r>
            <a:endParaRPr lang="ja-JP" altLang="en-US" dirty="0"/>
          </a:p>
          <a:p>
            <a:pPr>
              <a:lnSpc>
                <a:spcPts val="2600"/>
              </a:lnSpc>
            </a:pPr>
            <a:r>
              <a:rPr lang="ja-JP" altLang="en-US" b="1" dirty="0"/>
              <a:t>無駄な努力をしたくない（タイパ重視）</a:t>
            </a:r>
            <a:r>
              <a:rPr lang="en-US" altLang="ja-JP" b="1" dirty="0"/>
              <a:t>:</a:t>
            </a:r>
            <a:r>
              <a:rPr lang="ja-JP" altLang="en-US" dirty="0"/>
              <a:t> 「せっかくジムに行くなら、</a:t>
            </a:r>
            <a:r>
              <a:rPr lang="en-US" altLang="ja-JP" dirty="0"/>
              <a:t>1</a:t>
            </a:r>
            <a:r>
              <a:rPr lang="ja-JP" altLang="en-US" dirty="0"/>
              <a:t>ミリも無駄な労力を使いたくない」「一番手っ取り早く胸板を厚くする最短ルートだけを教えてほしい」と強く思っている。</a:t>
            </a:r>
          </a:p>
          <a:p>
            <a:pPr>
              <a:lnSpc>
                <a:spcPts val="2600"/>
              </a:lnSpc>
            </a:pPr>
            <a:r>
              <a:rPr lang="ja-JP" altLang="en-US" b="1" dirty="0"/>
              <a:t>混雑時のフリーズ</a:t>
            </a:r>
            <a:r>
              <a:rPr lang="en-US" altLang="ja-JP" b="1" dirty="0"/>
              <a:t>:</a:t>
            </a:r>
            <a:r>
              <a:rPr lang="ja-JP" altLang="en-US" dirty="0"/>
              <a:t> ジムに行ってベンチプレスなどの人気器具が埋まっていると、「代わりに何をすればいいか」が分からず、適当なトレーニングを行ってしまう。</a:t>
            </a:r>
            <a:endParaRPr lang="en-US" altLang="ja-JP" dirty="0"/>
          </a:p>
          <a:p>
            <a:pPr>
              <a:lnSpc>
                <a:spcPts val="2600"/>
              </a:lnSpc>
            </a:pPr>
            <a:endParaRPr lang="ja-JP" altLang="en-US" dirty="0"/>
          </a:p>
          <a:p>
            <a:pPr>
              <a:lnSpc>
                <a:spcPts val="2600"/>
              </a:lnSpc>
            </a:pPr>
            <a:r>
              <a:rPr lang="en-US" altLang="ja-JP" b="1" dirty="0"/>
              <a:t>4. </a:t>
            </a:r>
            <a:r>
              <a:rPr lang="ja-JP" altLang="en-US" b="1" dirty="0"/>
              <a:t>アプリを利用するリアルな文脈（トリガー）</a:t>
            </a:r>
          </a:p>
          <a:p>
            <a:pPr>
              <a:lnSpc>
                <a:spcPts val="2600"/>
              </a:lnSpc>
            </a:pPr>
            <a:r>
              <a:rPr lang="ja-JP" altLang="en-US" b="1" dirty="0"/>
              <a:t>シーン</a:t>
            </a:r>
            <a:r>
              <a:rPr lang="en-US" altLang="ja-JP" b="1" dirty="0"/>
              <a:t>A</a:t>
            </a:r>
            <a:r>
              <a:rPr lang="ja-JP" altLang="en-US" b="1" dirty="0"/>
              <a:t>（ジム到着時の迷い）</a:t>
            </a:r>
            <a:r>
              <a:rPr lang="en-US" altLang="ja-JP" b="1" dirty="0"/>
              <a:t>:</a:t>
            </a:r>
            <a:r>
              <a:rPr lang="ja-JP" altLang="en-US" dirty="0"/>
              <a:t> ジムに着いて着替えた直後。混雑しているジム内を見渡し、「今日は胸の日だけど、ベンチが空いてない。どうやって効率よく胸を追い込めばいいんだ？」と</a:t>
            </a:r>
            <a:r>
              <a:rPr lang="en-US" altLang="ja-JP" dirty="0"/>
              <a:t>AI</a:t>
            </a:r>
            <a:r>
              <a:rPr lang="ja-JP" altLang="en-US" dirty="0"/>
              <a:t>に助けを求める時。</a:t>
            </a:r>
          </a:p>
          <a:p>
            <a:pPr>
              <a:lnSpc>
                <a:spcPts val="2600"/>
              </a:lnSpc>
            </a:pPr>
            <a:r>
              <a:rPr lang="ja-JP" altLang="en-US" b="1" dirty="0"/>
              <a:t>シーン</a:t>
            </a:r>
            <a:r>
              <a:rPr lang="en-US" altLang="ja-JP" b="1" dirty="0"/>
              <a:t>B</a:t>
            </a:r>
            <a:r>
              <a:rPr lang="ja-JP" altLang="en-US" b="1" dirty="0"/>
              <a:t>（金欠・学食ベースの食事調整）</a:t>
            </a:r>
            <a:r>
              <a:rPr lang="en-US" altLang="ja-JP" b="1" dirty="0"/>
              <a:t>:</a:t>
            </a:r>
            <a:r>
              <a:rPr lang="ja-JP" altLang="en-US" dirty="0"/>
              <a:t> 昼休み。「今日の学食の</a:t>
            </a:r>
            <a:r>
              <a:rPr lang="en-US" altLang="ja-JP" dirty="0"/>
              <a:t>『</a:t>
            </a:r>
            <a:r>
              <a:rPr lang="ja-JP" altLang="en-US" dirty="0"/>
              <a:t>カツカレー</a:t>
            </a:r>
            <a:r>
              <a:rPr lang="en-US" altLang="ja-JP" dirty="0"/>
              <a:t>』</a:t>
            </a:r>
            <a:r>
              <a:rPr lang="ja-JP" altLang="en-US" dirty="0"/>
              <a:t>を食べてしまった。今日の夜の筋トレメニューと、夜ご飯（自炊かコンビニで安く済ませたい）をどうすれば筋肉に変わる？」と相談する時。</a:t>
            </a:r>
          </a:p>
          <a:p>
            <a:pPr>
              <a:lnSpc>
                <a:spcPts val="2600"/>
              </a:lnSpc>
            </a:pPr>
            <a:endParaRPr lang="ja-JP" altLang="en-US" dirty="0"/>
          </a:p>
        </p:txBody>
      </p:sp>
    </p:spTree>
    <p:extLst>
      <p:ext uri="{BB962C8B-B14F-4D97-AF65-F5344CB8AC3E}">
        <p14:creationId xmlns:p14="http://schemas.microsoft.com/office/powerpoint/2010/main" val="2027573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FE276-2EEE-10B9-5B32-7528365933D9}"/>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7428C6E3-A171-2E2A-582E-BC9EB7D70271}"/>
              </a:ext>
            </a:extLst>
          </p:cNvPr>
          <p:cNvSpPr>
            <a:spLocks noGrp="1"/>
          </p:cNvSpPr>
          <p:nvPr>
            <p:ph type="title"/>
          </p:nvPr>
        </p:nvSpPr>
        <p:spPr/>
        <p:txBody>
          <a:bodyPr/>
          <a:lstStyle/>
          <a:p>
            <a:r>
              <a:rPr lang="en-US" altLang="ja-JP" dirty="0"/>
              <a:t>Step1 </a:t>
            </a:r>
            <a:r>
              <a:rPr lang="ja-JP" altLang="en-US" dirty="0"/>
              <a:t>企画・ターゲット選定</a:t>
            </a:r>
            <a:endParaRPr kumimoji="1" lang="ja-JP" altLang="en-US" dirty="0"/>
          </a:p>
        </p:txBody>
      </p:sp>
      <p:sp>
        <p:nvSpPr>
          <p:cNvPr id="2" name="テキスト ボックス 1">
            <a:extLst>
              <a:ext uri="{FF2B5EF4-FFF2-40B4-BE49-F238E27FC236}">
                <a16:creationId xmlns:a16="http://schemas.microsoft.com/office/drawing/2014/main" id="{371CCE2C-D01F-D164-D925-80DF65884D82}"/>
              </a:ext>
            </a:extLst>
          </p:cNvPr>
          <p:cNvSpPr txBox="1"/>
          <p:nvPr/>
        </p:nvSpPr>
        <p:spPr>
          <a:xfrm>
            <a:off x="360219" y="1001580"/>
            <a:ext cx="1723549" cy="400110"/>
          </a:xfrm>
          <a:prstGeom prst="rect">
            <a:avLst/>
          </a:prstGeom>
          <a:noFill/>
        </p:spPr>
        <p:txBody>
          <a:bodyPr wrap="none" rtlCol="0">
            <a:spAutoFit/>
          </a:bodyPr>
          <a:lstStyle/>
          <a:p>
            <a:r>
              <a:rPr lang="ja-JP" altLang="en-US" sz="2000" b="1" dirty="0"/>
              <a:t>ターゲット１</a:t>
            </a:r>
            <a:endParaRPr kumimoji="1" lang="ja-JP" altLang="en-US" sz="2000" b="1" dirty="0"/>
          </a:p>
        </p:txBody>
      </p:sp>
      <p:sp>
        <p:nvSpPr>
          <p:cNvPr id="4" name="テキスト ボックス 3">
            <a:extLst>
              <a:ext uri="{FF2B5EF4-FFF2-40B4-BE49-F238E27FC236}">
                <a16:creationId xmlns:a16="http://schemas.microsoft.com/office/drawing/2014/main" id="{BAB0D6F1-DB18-18E6-0292-2CD3DBC4581A}"/>
              </a:ext>
            </a:extLst>
          </p:cNvPr>
          <p:cNvSpPr txBox="1"/>
          <p:nvPr/>
        </p:nvSpPr>
        <p:spPr>
          <a:xfrm>
            <a:off x="360219" y="1477415"/>
            <a:ext cx="11526981" cy="2407967"/>
          </a:xfrm>
          <a:prstGeom prst="rect">
            <a:avLst/>
          </a:prstGeom>
          <a:noFill/>
        </p:spPr>
        <p:txBody>
          <a:bodyPr wrap="square" rtlCol="0">
            <a:spAutoFit/>
          </a:bodyPr>
          <a:lstStyle/>
          <a:p>
            <a:pPr>
              <a:lnSpc>
                <a:spcPts val="2600"/>
              </a:lnSpc>
            </a:pPr>
            <a:r>
              <a:rPr lang="en-US" altLang="ja-JP" b="1" dirty="0"/>
              <a:t>5. AI</a:t>
            </a:r>
            <a:r>
              <a:rPr lang="ja-JP" altLang="en-US" b="1" dirty="0"/>
              <a:t>（このアプリ）に求めている態度</a:t>
            </a:r>
          </a:p>
          <a:p>
            <a:pPr>
              <a:lnSpc>
                <a:spcPts val="2600"/>
              </a:lnSpc>
            </a:pPr>
            <a:r>
              <a:rPr lang="ja-JP" altLang="en-US" dirty="0"/>
              <a:t>厳しいだけのスパルタではなく、**「知識豊富で、理由を論理的に教えてくれる頼れる先輩」**のような立ち位置。</a:t>
            </a:r>
          </a:p>
          <a:p>
            <a:pPr>
              <a:lnSpc>
                <a:spcPts val="2600"/>
              </a:lnSpc>
            </a:pPr>
            <a:r>
              <a:rPr lang="ja-JP" altLang="en-US" dirty="0"/>
              <a:t>「なぜこの種目をやるのか（＝効率が良い理由）」を添えてくれると納得して取り組める。</a:t>
            </a:r>
          </a:p>
          <a:p>
            <a:pPr>
              <a:lnSpc>
                <a:spcPts val="2600"/>
              </a:lnSpc>
            </a:pPr>
            <a:r>
              <a:rPr lang="ja-JP" altLang="en-US" dirty="0"/>
              <a:t>お金がないことを前提に、「コンビニで買える安い高タンパク食材」や「ジムのフリーウェイトが使えない時のマシンでの代替案」など、</a:t>
            </a:r>
            <a:r>
              <a:rPr lang="ja-JP" altLang="en-US" b="1" dirty="0"/>
              <a:t>リアルな学生生活に寄り添った具体的な提案</a:t>
            </a:r>
            <a:r>
              <a:rPr lang="ja-JP" altLang="en-US" dirty="0"/>
              <a:t>が欲しい。</a:t>
            </a:r>
          </a:p>
          <a:p>
            <a:pPr>
              <a:lnSpc>
                <a:spcPts val="2600"/>
              </a:lnSpc>
            </a:pPr>
            <a:endParaRPr lang="ja-JP" altLang="en-US" dirty="0"/>
          </a:p>
        </p:txBody>
      </p:sp>
    </p:spTree>
    <p:extLst>
      <p:ext uri="{BB962C8B-B14F-4D97-AF65-F5344CB8AC3E}">
        <p14:creationId xmlns:p14="http://schemas.microsoft.com/office/powerpoint/2010/main" val="1264091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EAE85-925E-FC0D-CA8B-64435B754040}"/>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59683E84-640B-6813-6B32-6FCE48F096B8}"/>
              </a:ext>
            </a:extLst>
          </p:cNvPr>
          <p:cNvSpPr>
            <a:spLocks noGrp="1"/>
          </p:cNvSpPr>
          <p:nvPr>
            <p:ph type="title"/>
          </p:nvPr>
        </p:nvSpPr>
        <p:spPr/>
        <p:txBody>
          <a:bodyPr/>
          <a:lstStyle/>
          <a:p>
            <a:r>
              <a:rPr lang="en-US" altLang="ja-JP" dirty="0"/>
              <a:t>Step1 </a:t>
            </a:r>
            <a:r>
              <a:rPr lang="ja-JP" altLang="en-US" dirty="0"/>
              <a:t>企画・ターゲット選定</a:t>
            </a:r>
            <a:endParaRPr kumimoji="1" lang="ja-JP" altLang="en-US" dirty="0"/>
          </a:p>
        </p:txBody>
      </p:sp>
      <p:sp>
        <p:nvSpPr>
          <p:cNvPr id="2" name="テキスト ボックス 1">
            <a:extLst>
              <a:ext uri="{FF2B5EF4-FFF2-40B4-BE49-F238E27FC236}">
                <a16:creationId xmlns:a16="http://schemas.microsoft.com/office/drawing/2014/main" id="{CFD85CDF-429B-D941-E731-838B64BB7F40}"/>
              </a:ext>
            </a:extLst>
          </p:cNvPr>
          <p:cNvSpPr txBox="1"/>
          <p:nvPr/>
        </p:nvSpPr>
        <p:spPr>
          <a:xfrm>
            <a:off x="360219" y="1001580"/>
            <a:ext cx="1723549" cy="400110"/>
          </a:xfrm>
          <a:prstGeom prst="rect">
            <a:avLst/>
          </a:prstGeom>
          <a:noFill/>
        </p:spPr>
        <p:txBody>
          <a:bodyPr wrap="none" rtlCol="0">
            <a:spAutoFit/>
          </a:bodyPr>
          <a:lstStyle/>
          <a:p>
            <a:r>
              <a:rPr lang="ja-JP" altLang="en-US" sz="2000" b="1" dirty="0"/>
              <a:t>ターゲット２</a:t>
            </a:r>
            <a:endParaRPr kumimoji="1" lang="ja-JP" altLang="en-US" sz="2000" b="1" dirty="0"/>
          </a:p>
        </p:txBody>
      </p:sp>
      <p:sp>
        <p:nvSpPr>
          <p:cNvPr id="4" name="テキスト ボックス 3">
            <a:extLst>
              <a:ext uri="{FF2B5EF4-FFF2-40B4-BE49-F238E27FC236}">
                <a16:creationId xmlns:a16="http://schemas.microsoft.com/office/drawing/2014/main" id="{D0E142C5-F2A2-081F-0BC4-215F39F363D5}"/>
              </a:ext>
            </a:extLst>
          </p:cNvPr>
          <p:cNvSpPr txBox="1"/>
          <p:nvPr/>
        </p:nvSpPr>
        <p:spPr>
          <a:xfrm>
            <a:off x="360219" y="1477415"/>
            <a:ext cx="11526981" cy="4741939"/>
          </a:xfrm>
          <a:prstGeom prst="rect">
            <a:avLst/>
          </a:prstGeom>
          <a:noFill/>
        </p:spPr>
        <p:txBody>
          <a:bodyPr wrap="square" rtlCol="0">
            <a:spAutoFit/>
          </a:bodyPr>
          <a:lstStyle/>
          <a:p>
            <a:pPr>
              <a:lnSpc>
                <a:spcPts val="2600"/>
              </a:lnSpc>
            </a:pPr>
            <a:r>
              <a:rPr lang="en-US" altLang="ja-JP" b="1" dirty="0"/>
              <a:t>1. </a:t>
            </a:r>
            <a:r>
              <a:rPr lang="ja-JP" altLang="en-US" b="1" dirty="0"/>
              <a:t>基本情報（デモグラフィック）</a:t>
            </a:r>
          </a:p>
          <a:p>
            <a:pPr>
              <a:lnSpc>
                <a:spcPts val="2600"/>
              </a:lnSpc>
            </a:pPr>
            <a:r>
              <a:rPr lang="ja-JP" altLang="en-US" b="1" dirty="0"/>
              <a:t>名前</a:t>
            </a:r>
            <a:r>
              <a:rPr lang="en-US" altLang="ja-JP" b="1" dirty="0"/>
              <a:t>:</a:t>
            </a:r>
            <a:r>
              <a:rPr lang="ja-JP" altLang="en-US" dirty="0"/>
              <a:t> 林 翔太（</a:t>
            </a:r>
            <a:r>
              <a:rPr lang="en-US" altLang="ja-JP" dirty="0"/>
              <a:t>32</a:t>
            </a:r>
            <a:r>
              <a:rPr lang="ja-JP" altLang="en-US" dirty="0"/>
              <a:t>歳）</a:t>
            </a:r>
          </a:p>
          <a:p>
            <a:pPr>
              <a:lnSpc>
                <a:spcPts val="2600"/>
              </a:lnSpc>
            </a:pPr>
            <a:r>
              <a:rPr lang="ja-JP" altLang="en-US" b="1" dirty="0"/>
              <a:t>職業</a:t>
            </a:r>
            <a:r>
              <a:rPr lang="en-US" altLang="ja-JP" b="1" dirty="0"/>
              <a:t>:</a:t>
            </a:r>
            <a:r>
              <a:rPr lang="ja-JP" altLang="en-US" dirty="0"/>
              <a:t> </a:t>
            </a:r>
            <a:r>
              <a:rPr lang="en-US" altLang="ja-JP" dirty="0"/>
              <a:t>IT</a:t>
            </a:r>
            <a:r>
              <a:rPr lang="ja-JP" altLang="en-US" dirty="0"/>
              <a:t>企業のプロジェクトマネージャー（または企画営業）。裁量は大きいが、突発的なトラブル対応や会食が入りやすい。</a:t>
            </a:r>
          </a:p>
          <a:p>
            <a:pPr>
              <a:lnSpc>
                <a:spcPts val="2600"/>
              </a:lnSpc>
            </a:pPr>
            <a:r>
              <a:rPr lang="ja-JP" altLang="en-US" b="1" dirty="0"/>
              <a:t>ライフスタイル</a:t>
            </a:r>
            <a:r>
              <a:rPr lang="en-US" altLang="ja-JP" b="1" dirty="0"/>
              <a:t>:</a:t>
            </a:r>
            <a:r>
              <a:rPr lang="ja-JP" altLang="en-US" dirty="0"/>
              <a:t> 都内で一人暮らし、または共働き。平日夜遅くなることが多く、可処分時間が少ない。</a:t>
            </a:r>
            <a:endParaRPr lang="en-US" altLang="ja-JP" dirty="0"/>
          </a:p>
          <a:p>
            <a:pPr>
              <a:lnSpc>
                <a:spcPts val="2600"/>
              </a:lnSpc>
            </a:pPr>
            <a:endParaRPr lang="en-US" altLang="ja-JP" dirty="0"/>
          </a:p>
          <a:p>
            <a:pPr>
              <a:lnSpc>
                <a:spcPts val="2600"/>
              </a:lnSpc>
            </a:pPr>
            <a:r>
              <a:rPr lang="en-US" altLang="ja-JP" b="1" dirty="0"/>
              <a:t>2. </a:t>
            </a:r>
            <a:r>
              <a:rPr lang="ja-JP" altLang="en-US" b="1" dirty="0"/>
              <a:t>フィットネスレベルと習慣（現状）</a:t>
            </a:r>
          </a:p>
          <a:p>
            <a:pPr>
              <a:lnSpc>
                <a:spcPts val="2600"/>
              </a:lnSpc>
            </a:pPr>
            <a:r>
              <a:rPr lang="ja-JP" altLang="en-US" b="1" dirty="0"/>
              <a:t>筋トレ歴</a:t>
            </a:r>
            <a:r>
              <a:rPr lang="en-US" altLang="ja-JP" b="1" dirty="0"/>
              <a:t>:</a:t>
            </a:r>
            <a:r>
              <a:rPr lang="ja-JP" altLang="en-US" dirty="0"/>
              <a:t> </a:t>
            </a:r>
            <a:r>
              <a:rPr lang="en-US" altLang="ja-JP" dirty="0"/>
              <a:t>3</a:t>
            </a:r>
            <a:r>
              <a:rPr lang="ja-JP" altLang="en-US" dirty="0"/>
              <a:t>年。</a:t>
            </a:r>
            <a:r>
              <a:rPr lang="en-US" altLang="ja-JP" dirty="0"/>
              <a:t>BIG3</a:t>
            </a:r>
            <a:r>
              <a:rPr lang="ja-JP" altLang="en-US" dirty="0"/>
              <a:t>（ベンチプレス、スクワット、デッドリフト）のフォームは一通り分かっており、部位別の分割法（胸の日、背中の日など）を取り入れている。</a:t>
            </a:r>
          </a:p>
          <a:p>
            <a:pPr>
              <a:lnSpc>
                <a:spcPts val="2600"/>
              </a:lnSpc>
            </a:pPr>
            <a:r>
              <a:rPr lang="ja-JP" altLang="en-US" b="1" dirty="0"/>
              <a:t>頻度</a:t>
            </a:r>
            <a:r>
              <a:rPr lang="en-US" altLang="ja-JP" b="1" dirty="0"/>
              <a:t>:</a:t>
            </a:r>
            <a:r>
              <a:rPr lang="ja-JP" altLang="en-US" dirty="0"/>
              <a:t> 目標は週</a:t>
            </a:r>
            <a:r>
              <a:rPr lang="en-US" altLang="ja-JP" dirty="0"/>
              <a:t>3</a:t>
            </a:r>
            <a:r>
              <a:rPr lang="ja-JP" altLang="en-US" dirty="0"/>
              <a:t>回のジム通い。しかし、仕事の都合で週</a:t>
            </a:r>
            <a:r>
              <a:rPr lang="en-US" altLang="ja-JP" dirty="0"/>
              <a:t>1</a:t>
            </a:r>
            <a:r>
              <a:rPr lang="ja-JP" altLang="en-US" dirty="0"/>
              <a:t>回に減ったり、宅トレに切り替えざるを得ない週が頻繁にある。</a:t>
            </a:r>
          </a:p>
          <a:p>
            <a:pPr>
              <a:lnSpc>
                <a:spcPts val="2600"/>
              </a:lnSpc>
            </a:pPr>
            <a:r>
              <a:rPr lang="ja-JP" altLang="en-US" b="1" dirty="0"/>
              <a:t>食事・知識</a:t>
            </a:r>
            <a:r>
              <a:rPr lang="en-US" altLang="ja-JP" b="1" dirty="0"/>
              <a:t>:</a:t>
            </a:r>
            <a:r>
              <a:rPr lang="ja-JP" altLang="en-US" dirty="0"/>
              <a:t> </a:t>
            </a:r>
            <a:r>
              <a:rPr lang="en-US" altLang="ja-JP" dirty="0"/>
              <a:t>PFC</a:t>
            </a:r>
            <a:r>
              <a:rPr lang="ja-JP" altLang="en-US" dirty="0"/>
              <a:t>バランス（タンパク質・脂質・炭水化物の比率）の概念は理解している。普段は高タンパクを意識しているが、付き合いの飲み会や残業後のラーメンなど、イレギュラーな食事が週に</a:t>
            </a:r>
            <a:r>
              <a:rPr lang="en-US" altLang="ja-JP" dirty="0"/>
              <a:t>1〜2</a:t>
            </a:r>
            <a:r>
              <a:rPr lang="ja-JP" altLang="en-US" dirty="0"/>
              <a:t>回発生する。</a:t>
            </a:r>
          </a:p>
          <a:p>
            <a:pPr>
              <a:lnSpc>
                <a:spcPts val="2600"/>
              </a:lnSpc>
            </a:pPr>
            <a:endParaRPr lang="ja-JP" altLang="en-US" dirty="0"/>
          </a:p>
        </p:txBody>
      </p:sp>
    </p:spTree>
    <p:extLst>
      <p:ext uri="{BB962C8B-B14F-4D97-AF65-F5344CB8AC3E}">
        <p14:creationId xmlns:p14="http://schemas.microsoft.com/office/powerpoint/2010/main" val="40876597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D6711-D9F9-7166-DC7C-E93CFFD55DE7}"/>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26A100D6-08EB-696A-098C-E7FBD17EA917}"/>
              </a:ext>
            </a:extLst>
          </p:cNvPr>
          <p:cNvSpPr>
            <a:spLocks noGrp="1"/>
          </p:cNvSpPr>
          <p:nvPr>
            <p:ph type="title"/>
          </p:nvPr>
        </p:nvSpPr>
        <p:spPr/>
        <p:txBody>
          <a:bodyPr/>
          <a:lstStyle/>
          <a:p>
            <a:r>
              <a:rPr lang="en-US" altLang="ja-JP" dirty="0"/>
              <a:t>Step1 </a:t>
            </a:r>
            <a:r>
              <a:rPr lang="ja-JP" altLang="en-US" dirty="0"/>
              <a:t>企画・ターゲット選定</a:t>
            </a:r>
            <a:endParaRPr kumimoji="1" lang="ja-JP" altLang="en-US" dirty="0"/>
          </a:p>
        </p:txBody>
      </p:sp>
      <p:sp>
        <p:nvSpPr>
          <p:cNvPr id="2" name="テキスト ボックス 1">
            <a:extLst>
              <a:ext uri="{FF2B5EF4-FFF2-40B4-BE49-F238E27FC236}">
                <a16:creationId xmlns:a16="http://schemas.microsoft.com/office/drawing/2014/main" id="{0D918A04-0D4E-DB9D-D7C6-9D7D89BB5ED3}"/>
              </a:ext>
            </a:extLst>
          </p:cNvPr>
          <p:cNvSpPr txBox="1"/>
          <p:nvPr/>
        </p:nvSpPr>
        <p:spPr>
          <a:xfrm>
            <a:off x="360219" y="1001580"/>
            <a:ext cx="1723549" cy="400110"/>
          </a:xfrm>
          <a:prstGeom prst="rect">
            <a:avLst/>
          </a:prstGeom>
          <a:noFill/>
        </p:spPr>
        <p:txBody>
          <a:bodyPr wrap="none" rtlCol="0">
            <a:spAutoFit/>
          </a:bodyPr>
          <a:lstStyle/>
          <a:p>
            <a:r>
              <a:rPr lang="ja-JP" altLang="en-US" sz="2000" b="1" dirty="0"/>
              <a:t>ターゲット２</a:t>
            </a:r>
            <a:endParaRPr kumimoji="1" lang="ja-JP" altLang="en-US" sz="2000" b="1" dirty="0"/>
          </a:p>
        </p:txBody>
      </p:sp>
      <p:sp>
        <p:nvSpPr>
          <p:cNvPr id="4" name="テキスト ボックス 3">
            <a:extLst>
              <a:ext uri="{FF2B5EF4-FFF2-40B4-BE49-F238E27FC236}">
                <a16:creationId xmlns:a16="http://schemas.microsoft.com/office/drawing/2014/main" id="{BC055250-94EA-ABE4-8662-F2A96902BBD7}"/>
              </a:ext>
            </a:extLst>
          </p:cNvPr>
          <p:cNvSpPr txBox="1"/>
          <p:nvPr/>
        </p:nvSpPr>
        <p:spPr>
          <a:xfrm>
            <a:off x="360219" y="1477415"/>
            <a:ext cx="11526981" cy="5075364"/>
          </a:xfrm>
          <a:prstGeom prst="rect">
            <a:avLst/>
          </a:prstGeom>
          <a:noFill/>
        </p:spPr>
        <p:txBody>
          <a:bodyPr wrap="square" rtlCol="0">
            <a:spAutoFit/>
          </a:bodyPr>
          <a:lstStyle/>
          <a:p>
            <a:pPr>
              <a:lnSpc>
                <a:spcPts val="2600"/>
              </a:lnSpc>
            </a:pPr>
            <a:r>
              <a:rPr lang="en-US" altLang="ja-JP" b="1" dirty="0"/>
              <a:t>3. </a:t>
            </a:r>
            <a:r>
              <a:rPr lang="ja-JP" altLang="en-US" b="1" dirty="0"/>
              <a:t>抱えている強烈なペイン（不満・課題）</a:t>
            </a:r>
          </a:p>
          <a:p>
            <a:pPr>
              <a:lnSpc>
                <a:spcPts val="2600"/>
              </a:lnSpc>
            </a:pPr>
            <a:r>
              <a:rPr lang="ja-JP" altLang="en-US" b="1" dirty="0"/>
              <a:t>思考リソースの枯渇</a:t>
            </a:r>
            <a:r>
              <a:rPr lang="en-US" altLang="ja-JP" b="1" dirty="0"/>
              <a:t>:</a:t>
            </a:r>
            <a:r>
              <a:rPr lang="ja-JP" altLang="en-US" dirty="0"/>
              <a:t> 「今日は本来背中の日だけど、時間が</a:t>
            </a:r>
            <a:r>
              <a:rPr lang="en-US" altLang="ja-JP" dirty="0"/>
              <a:t>30</a:t>
            </a:r>
            <a:r>
              <a:rPr lang="ja-JP" altLang="en-US" dirty="0"/>
              <a:t>分しかない。しかも昨日は飲み会で脂質を摂りすぎた。じゃあ今日は何を何セットやって、食事はどうリカバリーすればいい？」とイチから計算し直すのが死ぬほど面倒くさい。</a:t>
            </a:r>
          </a:p>
          <a:p>
            <a:pPr>
              <a:lnSpc>
                <a:spcPts val="2600"/>
              </a:lnSpc>
            </a:pPr>
            <a:r>
              <a:rPr lang="ja-JP" altLang="en-US" b="1" dirty="0"/>
              <a:t>計画崩れのストレス</a:t>
            </a:r>
            <a:r>
              <a:rPr lang="en-US" altLang="ja-JP" b="1" dirty="0"/>
              <a:t>:</a:t>
            </a:r>
            <a:r>
              <a:rPr lang="ja-JP" altLang="en-US" dirty="0"/>
              <a:t> 完璧なトレーニング計画を立てても、仕事のせいで実行できず、そのたびに「また予定通りできなかった」という小さなストレスが溜まる。</a:t>
            </a:r>
          </a:p>
          <a:p>
            <a:pPr>
              <a:lnSpc>
                <a:spcPts val="2600"/>
              </a:lnSpc>
            </a:pPr>
            <a:r>
              <a:rPr lang="ja-JP" altLang="en-US" b="1" dirty="0"/>
              <a:t>既存アプリへの不満</a:t>
            </a:r>
            <a:r>
              <a:rPr lang="en-US" altLang="ja-JP" b="1" dirty="0"/>
              <a:t>:</a:t>
            </a:r>
            <a:r>
              <a:rPr lang="ja-JP" altLang="en-US" dirty="0"/>
              <a:t> 記録アプリ（</a:t>
            </a:r>
            <a:r>
              <a:rPr lang="en-US" altLang="ja-JP" dirty="0" err="1"/>
              <a:t>FitNotes</a:t>
            </a:r>
            <a:r>
              <a:rPr lang="ja-JP" altLang="en-US" dirty="0"/>
              <a:t>など）や食事アプリ（あすけんなど）は「結果の記録」しかできず、「イレギュラーが起きた今日、具体的にどうすればいいか（</a:t>
            </a:r>
            <a:r>
              <a:rPr lang="en-US" altLang="ja-JP" dirty="0"/>
              <a:t>How</a:t>
            </a:r>
            <a:r>
              <a:rPr lang="ja-JP" altLang="en-US" dirty="0"/>
              <a:t>）」を教えてくれない。</a:t>
            </a:r>
            <a:endParaRPr lang="en-US" altLang="ja-JP" dirty="0"/>
          </a:p>
          <a:p>
            <a:pPr>
              <a:lnSpc>
                <a:spcPts val="2600"/>
              </a:lnSpc>
            </a:pPr>
            <a:endParaRPr lang="ja-JP" altLang="en-US" dirty="0"/>
          </a:p>
          <a:p>
            <a:pPr>
              <a:lnSpc>
                <a:spcPts val="2600"/>
              </a:lnSpc>
            </a:pPr>
            <a:r>
              <a:rPr lang="en-US" altLang="ja-JP" b="1" dirty="0"/>
              <a:t>4. </a:t>
            </a:r>
            <a:r>
              <a:rPr lang="ja-JP" altLang="en-US" b="1" dirty="0"/>
              <a:t>アプリを利用するリアルな文脈（トリガー）</a:t>
            </a:r>
          </a:p>
          <a:p>
            <a:pPr>
              <a:lnSpc>
                <a:spcPts val="2600"/>
              </a:lnSpc>
            </a:pPr>
            <a:r>
              <a:rPr lang="ja-JP" altLang="en-US" b="1" dirty="0"/>
              <a:t>シーン</a:t>
            </a:r>
            <a:r>
              <a:rPr lang="en-US" altLang="ja-JP" b="1" dirty="0"/>
              <a:t>A</a:t>
            </a:r>
            <a:r>
              <a:rPr lang="ja-JP" altLang="en-US" b="1" dirty="0"/>
              <a:t>（急な予定変更）</a:t>
            </a:r>
            <a:r>
              <a:rPr lang="en-US" altLang="ja-JP" b="1" dirty="0"/>
              <a:t>:</a:t>
            </a:r>
            <a:r>
              <a:rPr lang="ja-JP" altLang="en-US" dirty="0"/>
              <a:t> 夕方</a:t>
            </a:r>
            <a:r>
              <a:rPr lang="en-US" altLang="ja-JP" dirty="0"/>
              <a:t>18</a:t>
            </a:r>
            <a:r>
              <a:rPr lang="ja-JP" altLang="en-US" dirty="0"/>
              <a:t>時。</a:t>
            </a:r>
            <a:r>
              <a:rPr lang="en-US" altLang="ja-JP" dirty="0"/>
              <a:t>19</a:t>
            </a:r>
            <a:r>
              <a:rPr lang="ja-JP" altLang="en-US" dirty="0"/>
              <a:t>時からジムで</a:t>
            </a:r>
            <a:r>
              <a:rPr lang="en-US" altLang="ja-JP" dirty="0"/>
              <a:t>1</a:t>
            </a:r>
            <a:r>
              <a:rPr lang="ja-JP" altLang="en-US" dirty="0"/>
              <a:t>時間脚トレをする予定だったが、急なオンライン会議が入り、ジムに行ける時間が**</a:t>
            </a:r>
            <a:r>
              <a:rPr lang="en-US" altLang="ja-JP" dirty="0"/>
              <a:t>21</a:t>
            </a:r>
            <a:r>
              <a:rPr lang="ja-JP" altLang="en-US" dirty="0"/>
              <a:t>時からの「</a:t>
            </a:r>
            <a:r>
              <a:rPr lang="en-US" altLang="ja-JP" dirty="0"/>
              <a:t>40</a:t>
            </a:r>
            <a:r>
              <a:rPr lang="ja-JP" altLang="en-US" dirty="0"/>
              <a:t>分間」**に短縮されてしまった時。</a:t>
            </a:r>
          </a:p>
          <a:p>
            <a:pPr>
              <a:lnSpc>
                <a:spcPts val="2600"/>
              </a:lnSpc>
            </a:pPr>
            <a:r>
              <a:rPr lang="ja-JP" altLang="en-US" b="1" dirty="0"/>
              <a:t>シーン</a:t>
            </a:r>
            <a:r>
              <a:rPr lang="en-US" altLang="ja-JP" b="1" dirty="0"/>
              <a:t>B</a:t>
            </a:r>
            <a:r>
              <a:rPr lang="ja-JP" altLang="en-US" b="1" dirty="0"/>
              <a:t>（罪悪感からのリカバリー）</a:t>
            </a:r>
            <a:r>
              <a:rPr lang="en-US" altLang="ja-JP" b="1" dirty="0"/>
              <a:t>:</a:t>
            </a:r>
            <a:r>
              <a:rPr lang="ja-JP" altLang="en-US" dirty="0"/>
              <a:t> 朝</a:t>
            </a:r>
            <a:r>
              <a:rPr lang="en-US" altLang="ja-JP" dirty="0"/>
              <a:t>7</a:t>
            </a:r>
            <a:r>
              <a:rPr lang="ja-JP" altLang="en-US" dirty="0"/>
              <a:t>時。昨夜、深夜のラーメンとビールをやってしまい、顔がむくんでいる。自己嫌悪に陥りながらも「今日と明日でどう帳尻を合わせるか」の最適解が欲しい時。</a:t>
            </a:r>
          </a:p>
          <a:p>
            <a:pPr>
              <a:lnSpc>
                <a:spcPts val="2600"/>
              </a:lnSpc>
            </a:pPr>
            <a:endParaRPr lang="ja-JP" altLang="en-US" dirty="0"/>
          </a:p>
        </p:txBody>
      </p:sp>
    </p:spTree>
    <p:extLst>
      <p:ext uri="{BB962C8B-B14F-4D97-AF65-F5344CB8AC3E}">
        <p14:creationId xmlns:p14="http://schemas.microsoft.com/office/powerpoint/2010/main" val="29696127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C62C6-4C45-A9C1-3178-2D8B5B114049}"/>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3EBB2777-96E3-3252-EAD2-C81DC99FC2A5}"/>
              </a:ext>
            </a:extLst>
          </p:cNvPr>
          <p:cNvSpPr>
            <a:spLocks noGrp="1"/>
          </p:cNvSpPr>
          <p:nvPr>
            <p:ph type="title"/>
          </p:nvPr>
        </p:nvSpPr>
        <p:spPr/>
        <p:txBody>
          <a:bodyPr/>
          <a:lstStyle/>
          <a:p>
            <a:r>
              <a:rPr lang="en-US" altLang="ja-JP" dirty="0"/>
              <a:t>Step1 </a:t>
            </a:r>
            <a:r>
              <a:rPr lang="ja-JP" altLang="en-US" dirty="0"/>
              <a:t>企画・ターゲット選定</a:t>
            </a:r>
            <a:endParaRPr kumimoji="1" lang="ja-JP" altLang="en-US" dirty="0"/>
          </a:p>
        </p:txBody>
      </p:sp>
      <p:sp>
        <p:nvSpPr>
          <p:cNvPr id="2" name="テキスト ボックス 1">
            <a:extLst>
              <a:ext uri="{FF2B5EF4-FFF2-40B4-BE49-F238E27FC236}">
                <a16:creationId xmlns:a16="http://schemas.microsoft.com/office/drawing/2014/main" id="{DA8789BC-9435-BC22-72B9-24AF8C60B459}"/>
              </a:ext>
            </a:extLst>
          </p:cNvPr>
          <p:cNvSpPr txBox="1"/>
          <p:nvPr/>
        </p:nvSpPr>
        <p:spPr>
          <a:xfrm>
            <a:off x="360219" y="1001580"/>
            <a:ext cx="1723549" cy="400110"/>
          </a:xfrm>
          <a:prstGeom prst="rect">
            <a:avLst/>
          </a:prstGeom>
          <a:noFill/>
        </p:spPr>
        <p:txBody>
          <a:bodyPr wrap="none" rtlCol="0">
            <a:spAutoFit/>
          </a:bodyPr>
          <a:lstStyle/>
          <a:p>
            <a:r>
              <a:rPr lang="ja-JP" altLang="en-US" sz="2000" b="1" dirty="0"/>
              <a:t>ターゲット２</a:t>
            </a:r>
            <a:endParaRPr kumimoji="1" lang="ja-JP" altLang="en-US" sz="2000" b="1" dirty="0"/>
          </a:p>
        </p:txBody>
      </p:sp>
      <p:sp>
        <p:nvSpPr>
          <p:cNvPr id="4" name="テキスト ボックス 3">
            <a:extLst>
              <a:ext uri="{FF2B5EF4-FFF2-40B4-BE49-F238E27FC236}">
                <a16:creationId xmlns:a16="http://schemas.microsoft.com/office/drawing/2014/main" id="{B9E7F714-ACDE-BDE9-1599-062D88EBE82E}"/>
              </a:ext>
            </a:extLst>
          </p:cNvPr>
          <p:cNvSpPr txBox="1"/>
          <p:nvPr/>
        </p:nvSpPr>
        <p:spPr>
          <a:xfrm>
            <a:off x="360219" y="1477415"/>
            <a:ext cx="11526981" cy="2407967"/>
          </a:xfrm>
          <a:prstGeom prst="rect">
            <a:avLst/>
          </a:prstGeom>
          <a:noFill/>
        </p:spPr>
        <p:txBody>
          <a:bodyPr wrap="square" rtlCol="0">
            <a:spAutoFit/>
          </a:bodyPr>
          <a:lstStyle/>
          <a:p>
            <a:pPr>
              <a:lnSpc>
                <a:spcPts val="2600"/>
              </a:lnSpc>
            </a:pPr>
            <a:r>
              <a:rPr lang="en-US" altLang="ja-JP" b="1" dirty="0"/>
              <a:t>5. AI</a:t>
            </a:r>
            <a:r>
              <a:rPr lang="ja-JP" altLang="en-US" b="1" dirty="0"/>
              <a:t>（このアプリ）に求めている態度</a:t>
            </a:r>
          </a:p>
          <a:p>
            <a:pPr>
              <a:lnSpc>
                <a:spcPts val="2600"/>
              </a:lnSpc>
            </a:pPr>
            <a:r>
              <a:rPr lang="ja-JP" altLang="en-US" dirty="0"/>
              <a:t>励ましや同情（「頑張りましょう！」など）はあまり求めていない。</a:t>
            </a:r>
          </a:p>
          <a:p>
            <a:pPr>
              <a:lnSpc>
                <a:spcPts val="2600"/>
              </a:lnSpc>
            </a:pPr>
            <a:r>
              <a:rPr lang="ja-JP" altLang="en-US" dirty="0"/>
              <a:t>**「ロジカル」「ドライ」「超・具体的」**を好む。</a:t>
            </a:r>
          </a:p>
          <a:p>
            <a:pPr>
              <a:lnSpc>
                <a:spcPts val="2600"/>
              </a:lnSpc>
            </a:pPr>
            <a:r>
              <a:rPr lang="ja-JP" altLang="en-US" dirty="0"/>
              <a:t>「時間がないなら休憩を削れ」「食べすぎたなら今日の脂質を〇</a:t>
            </a:r>
            <a:r>
              <a:rPr lang="en-US" altLang="ja-JP" dirty="0"/>
              <a:t>g</a:t>
            </a:r>
            <a:r>
              <a:rPr lang="ja-JP" altLang="en-US" dirty="0"/>
              <a:t>に抑えろ」と、**回数・秒数・グラム数などの「数字」**でバシッと指示を出されると、「よし、それならやろう」と行動スイッチが入る。</a:t>
            </a:r>
          </a:p>
          <a:p>
            <a:pPr>
              <a:lnSpc>
                <a:spcPts val="2600"/>
              </a:lnSpc>
            </a:pPr>
            <a:r>
              <a:rPr lang="ja-JP" altLang="en-US" dirty="0"/>
              <a:t>。</a:t>
            </a:r>
          </a:p>
          <a:p>
            <a:pPr>
              <a:lnSpc>
                <a:spcPts val="2600"/>
              </a:lnSpc>
            </a:pPr>
            <a:endParaRPr lang="ja-JP" altLang="en-US" dirty="0"/>
          </a:p>
        </p:txBody>
      </p:sp>
    </p:spTree>
    <p:extLst>
      <p:ext uri="{BB962C8B-B14F-4D97-AF65-F5344CB8AC3E}">
        <p14:creationId xmlns:p14="http://schemas.microsoft.com/office/powerpoint/2010/main" val="714185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AEA12-4FC3-3642-5202-C5D81DBD091C}"/>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2B7E47F5-36F6-EA6B-A862-6209196800AD}"/>
              </a:ext>
            </a:extLst>
          </p:cNvPr>
          <p:cNvSpPr>
            <a:spLocks noGrp="1"/>
          </p:cNvSpPr>
          <p:nvPr>
            <p:ph type="title"/>
          </p:nvPr>
        </p:nvSpPr>
        <p:spPr/>
        <p:txBody>
          <a:bodyPr/>
          <a:lstStyle/>
          <a:p>
            <a:r>
              <a:rPr lang="en-US" altLang="ja-JP" dirty="0"/>
              <a:t>Step3 MVP</a:t>
            </a:r>
            <a:r>
              <a:rPr lang="ja-JP" altLang="en-US" dirty="0"/>
              <a:t>の決定</a:t>
            </a:r>
            <a:endParaRPr kumimoji="1" lang="ja-JP" altLang="en-US" dirty="0"/>
          </a:p>
        </p:txBody>
      </p:sp>
      <p:sp>
        <p:nvSpPr>
          <p:cNvPr id="2" name="テキスト ボックス 1">
            <a:extLst>
              <a:ext uri="{FF2B5EF4-FFF2-40B4-BE49-F238E27FC236}">
                <a16:creationId xmlns:a16="http://schemas.microsoft.com/office/drawing/2014/main" id="{BE698250-BA03-3198-46E3-97225DC78D3F}"/>
              </a:ext>
            </a:extLst>
          </p:cNvPr>
          <p:cNvSpPr txBox="1"/>
          <p:nvPr/>
        </p:nvSpPr>
        <p:spPr>
          <a:xfrm>
            <a:off x="360219" y="1063837"/>
            <a:ext cx="2064989" cy="400110"/>
          </a:xfrm>
          <a:prstGeom prst="rect">
            <a:avLst/>
          </a:prstGeom>
          <a:noFill/>
        </p:spPr>
        <p:txBody>
          <a:bodyPr wrap="none" rtlCol="0">
            <a:spAutoFit/>
          </a:bodyPr>
          <a:lstStyle/>
          <a:p>
            <a:r>
              <a:rPr lang="en-US" altLang="ja-JP" sz="2000" b="1" dirty="0"/>
              <a:t>MVP</a:t>
            </a:r>
            <a:r>
              <a:rPr lang="ja-JP" altLang="en-US" sz="2000" b="1" dirty="0"/>
              <a:t>の判断基準</a:t>
            </a:r>
            <a:endParaRPr kumimoji="1" lang="ja-JP" altLang="en-US" sz="2000" b="1" dirty="0"/>
          </a:p>
        </p:txBody>
      </p:sp>
      <p:sp>
        <p:nvSpPr>
          <p:cNvPr id="4" name="テキスト ボックス 3">
            <a:extLst>
              <a:ext uri="{FF2B5EF4-FFF2-40B4-BE49-F238E27FC236}">
                <a16:creationId xmlns:a16="http://schemas.microsoft.com/office/drawing/2014/main" id="{FFA4B2EF-20DB-97A3-99CB-B24614F949D9}"/>
              </a:ext>
            </a:extLst>
          </p:cNvPr>
          <p:cNvSpPr txBox="1"/>
          <p:nvPr/>
        </p:nvSpPr>
        <p:spPr>
          <a:xfrm>
            <a:off x="294735" y="1484045"/>
            <a:ext cx="8032968" cy="3139321"/>
          </a:xfrm>
          <a:prstGeom prst="rect">
            <a:avLst/>
          </a:prstGeom>
          <a:noFill/>
        </p:spPr>
        <p:txBody>
          <a:bodyPr wrap="none" rtlCol="0">
            <a:spAutoFit/>
          </a:bodyPr>
          <a:lstStyle/>
          <a:p>
            <a:r>
              <a:rPr lang="ja-JP" altLang="en-US" b="1" dirty="0"/>
              <a:t>課題の解像度</a:t>
            </a:r>
            <a:endParaRPr lang="en-US" altLang="ja-JP" b="1" dirty="0"/>
          </a:p>
          <a:p>
            <a:r>
              <a:rPr lang="ja-JP" altLang="en-US" dirty="0"/>
              <a:t>開発者自身で良し悪しがわかるため開発スピード</a:t>
            </a:r>
            <a:r>
              <a:rPr lang="en-US" altLang="ja-JP" dirty="0"/>
              <a:t>UP</a:t>
            </a:r>
          </a:p>
          <a:p>
            <a:endParaRPr lang="en-US" altLang="ja-JP" dirty="0"/>
          </a:p>
          <a:p>
            <a:r>
              <a:rPr lang="ja-JP" altLang="en-US" b="1" dirty="0"/>
              <a:t>ユーザーの熱量と</a:t>
            </a:r>
            <a:r>
              <a:rPr lang="en-US" altLang="ja-JP" b="1" dirty="0"/>
              <a:t>LTV</a:t>
            </a:r>
            <a:r>
              <a:rPr lang="ja-JP" altLang="en-US" b="1" dirty="0"/>
              <a:t>（生涯顧客価値）</a:t>
            </a:r>
            <a:endParaRPr lang="en-US" altLang="ja-JP" b="1" dirty="0"/>
          </a:p>
          <a:p>
            <a:r>
              <a:rPr lang="ja-JP" altLang="en-US" dirty="0"/>
              <a:t>ユーザーのモチベーションが高く、価値を感じられれば長く使ってもらえる</a:t>
            </a:r>
            <a:endParaRPr lang="en-US" altLang="ja-JP" dirty="0"/>
          </a:p>
          <a:p>
            <a:endParaRPr lang="en-US" altLang="ja-JP" dirty="0"/>
          </a:p>
          <a:p>
            <a:r>
              <a:rPr lang="ja-JP" altLang="en-US" b="1" dirty="0"/>
              <a:t>競合の強さ</a:t>
            </a:r>
            <a:endParaRPr lang="en-US" altLang="ja-JP" b="1" dirty="0"/>
          </a:p>
          <a:p>
            <a:r>
              <a:rPr lang="ja-JP" altLang="en-US" dirty="0"/>
              <a:t>照射がまだいないため入り込む余地あり</a:t>
            </a:r>
            <a:endParaRPr lang="en-US" altLang="ja-JP" dirty="0"/>
          </a:p>
          <a:p>
            <a:endParaRPr lang="en-US" altLang="ja-JP" dirty="0"/>
          </a:p>
          <a:p>
            <a:r>
              <a:rPr lang="ja-JP" altLang="en-US" b="1" dirty="0"/>
              <a:t>開発のモチベーション</a:t>
            </a:r>
            <a:endParaRPr lang="en-US" altLang="ja-JP" b="1" dirty="0"/>
          </a:p>
          <a:p>
            <a:r>
              <a:rPr lang="ja-JP" altLang="en-US" dirty="0"/>
              <a:t>自分自身が欲しいサービスを作成できるため維持可能</a:t>
            </a:r>
            <a:endParaRPr lang="en-US" altLang="ja-JP" dirty="0"/>
          </a:p>
        </p:txBody>
      </p:sp>
    </p:spTree>
    <p:extLst>
      <p:ext uri="{BB962C8B-B14F-4D97-AF65-F5344CB8AC3E}">
        <p14:creationId xmlns:p14="http://schemas.microsoft.com/office/powerpoint/2010/main" val="8654157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BCC43-47CA-B1F8-044B-757812B21DFE}"/>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AD9A2748-27C0-7195-950C-CE34CBEB54E0}"/>
              </a:ext>
            </a:extLst>
          </p:cNvPr>
          <p:cNvSpPr>
            <a:spLocks noGrp="1"/>
          </p:cNvSpPr>
          <p:nvPr>
            <p:ph type="title"/>
          </p:nvPr>
        </p:nvSpPr>
        <p:spPr/>
        <p:txBody>
          <a:bodyPr/>
          <a:lstStyle/>
          <a:p>
            <a:r>
              <a:rPr kumimoji="1" lang="ja-JP" altLang="en-US" dirty="0"/>
              <a:t>モンテカルロ、非正則事前分布</a:t>
            </a:r>
          </a:p>
        </p:txBody>
      </p:sp>
      <p:sp>
        <p:nvSpPr>
          <p:cNvPr id="4" name="テキスト ボックス 3">
            <a:extLst>
              <a:ext uri="{FF2B5EF4-FFF2-40B4-BE49-F238E27FC236}">
                <a16:creationId xmlns:a16="http://schemas.microsoft.com/office/drawing/2014/main" id="{0C97543D-CD02-20A5-4861-22058EACF11D}"/>
              </a:ext>
            </a:extLst>
          </p:cNvPr>
          <p:cNvSpPr txBox="1"/>
          <p:nvPr/>
        </p:nvSpPr>
        <p:spPr>
          <a:xfrm>
            <a:off x="294735" y="1177314"/>
            <a:ext cx="5262979" cy="369332"/>
          </a:xfrm>
          <a:prstGeom prst="rect">
            <a:avLst/>
          </a:prstGeom>
          <a:noFill/>
        </p:spPr>
        <p:txBody>
          <a:bodyPr wrap="none" rtlCol="0">
            <a:spAutoFit/>
          </a:bodyPr>
          <a:lstStyle/>
          <a:p>
            <a:r>
              <a:rPr lang="ja-JP" altLang="en-US" dirty="0"/>
              <a:t>多くの場合、母集団の平均がいくらかを知りたい</a:t>
            </a:r>
            <a:endParaRPr kumimoji="1" lang="en-US" altLang="ja-JP" dirty="0"/>
          </a:p>
        </p:txBody>
      </p:sp>
      <p:pic>
        <p:nvPicPr>
          <p:cNvPr id="10" name="図 9">
            <a:extLst>
              <a:ext uri="{FF2B5EF4-FFF2-40B4-BE49-F238E27FC236}">
                <a16:creationId xmlns:a16="http://schemas.microsoft.com/office/drawing/2014/main" id="{CA569DD7-C464-C154-C7A0-44A7528EFEF2}"/>
              </a:ext>
            </a:extLst>
          </p:cNvPr>
          <p:cNvPicPr>
            <a:picLocks noChangeAspect="1"/>
          </p:cNvPicPr>
          <p:nvPr/>
        </p:nvPicPr>
        <p:blipFill>
          <a:blip r:embed="rId3">
            <a:extLst>
              <a:ext uri="{28A0092B-C50C-407E-A947-70E740481C1C}">
                <a14:useLocalDpi xmlns:a14="http://schemas.microsoft.com/office/drawing/2010/main" val="0"/>
              </a:ext>
            </a:extLst>
          </a:blip>
          <a:srcRect b="66099"/>
          <a:stretch>
            <a:fillRect/>
          </a:stretch>
        </p:blipFill>
        <p:spPr>
          <a:xfrm>
            <a:off x="579791" y="2042923"/>
            <a:ext cx="4972744" cy="926889"/>
          </a:xfrm>
          <a:prstGeom prst="rect">
            <a:avLst/>
          </a:prstGeom>
        </p:spPr>
      </p:pic>
      <p:pic>
        <p:nvPicPr>
          <p:cNvPr id="11" name="図 10">
            <a:extLst>
              <a:ext uri="{FF2B5EF4-FFF2-40B4-BE49-F238E27FC236}">
                <a16:creationId xmlns:a16="http://schemas.microsoft.com/office/drawing/2014/main" id="{0AAF0409-7A83-26B7-5140-AE6A7EF49C08}"/>
              </a:ext>
            </a:extLst>
          </p:cNvPr>
          <p:cNvPicPr>
            <a:picLocks noChangeAspect="1"/>
          </p:cNvPicPr>
          <p:nvPr/>
        </p:nvPicPr>
        <p:blipFill>
          <a:blip r:embed="rId3">
            <a:extLst>
              <a:ext uri="{28A0092B-C50C-407E-A947-70E740481C1C}">
                <a14:useLocalDpi xmlns:a14="http://schemas.microsoft.com/office/drawing/2010/main" val="0"/>
              </a:ext>
            </a:extLst>
          </a:blip>
          <a:srcRect t="65350"/>
          <a:stretch>
            <a:fillRect/>
          </a:stretch>
        </p:blipFill>
        <p:spPr>
          <a:xfrm>
            <a:off x="5552535" y="2042923"/>
            <a:ext cx="4972744" cy="947359"/>
          </a:xfrm>
          <a:prstGeom prst="rect">
            <a:avLst/>
          </a:prstGeom>
        </p:spPr>
      </p:pic>
      <p:sp>
        <p:nvSpPr>
          <p:cNvPr id="12" name="テキスト ボックス 11">
            <a:extLst>
              <a:ext uri="{FF2B5EF4-FFF2-40B4-BE49-F238E27FC236}">
                <a16:creationId xmlns:a16="http://schemas.microsoft.com/office/drawing/2014/main" id="{DC44B28B-1651-C8E5-216C-92586CAC66DF}"/>
              </a:ext>
            </a:extLst>
          </p:cNvPr>
          <p:cNvSpPr txBox="1"/>
          <p:nvPr/>
        </p:nvSpPr>
        <p:spPr>
          <a:xfrm>
            <a:off x="701413" y="1837787"/>
            <a:ext cx="646331" cy="369332"/>
          </a:xfrm>
          <a:prstGeom prst="rect">
            <a:avLst/>
          </a:prstGeom>
          <a:noFill/>
        </p:spPr>
        <p:txBody>
          <a:bodyPr wrap="none" rtlCol="0">
            <a:spAutoFit/>
          </a:bodyPr>
          <a:lstStyle/>
          <a:p>
            <a:r>
              <a:rPr lang="ja-JP" altLang="en-US" b="1" dirty="0"/>
              <a:t>分散</a:t>
            </a:r>
            <a:endParaRPr kumimoji="1" lang="ja-JP" altLang="en-US" b="1" dirty="0"/>
          </a:p>
        </p:txBody>
      </p:sp>
      <p:sp>
        <p:nvSpPr>
          <p:cNvPr id="13" name="テキスト ボックス 12">
            <a:extLst>
              <a:ext uri="{FF2B5EF4-FFF2-40B4-BE49-F238E27FC236}">
                <a16:creationId xmlns:a16="http://schemas.microsoft.com/office/drawing/2014/main" id="{42492003-6387-80E0-1B1C-B53E7C3FC060}"/>
              </a:ext>
            </a:extLst>
          </p:cNvPr>
          <p:cNvSpPr txBox="1"/>
          <p:nvPr/>
        </p:nvSpPr>
        <p:spPr>
          <a:xfrm>
            <a:off x="6316301" y="1837787"/>
            <a:ext cx="646331" cy="369332"/>
          </a:xfrm>
          <a:prstGeom prst="rect">
            <a:avLst/>
          </a:prstGeom>
          <a:noFill/>
        </p:spPr>
        <p:txBody>
          <a:bodyPr wrap="none" rtlCol="0">
            <a:spAutoFit/>
          </a:bodyPr>
          <a:lstStyle/>
          <a:p>
            <a:r>
              <a:rPr kumimoji="1" lang="ja-JP" altLang="en-US" b="1" dirty="0"/>
              <a:t>平均</a:t>
            </a:r>
          </a:p>
        </p:txBody>
      </p:sp>
      <p:sp>
        <p:nvSpPr>
          <p:cNvPr id="14" name="テキスト ボックス 13">
            <a:extLst>
              <a:ext uri="{FF2B5EF4-FFF2-40B4-BE49-F238E27FC236}">
                <a16:creationId xmlns:a16="http://schemas.microsoft.com/office/drawing/2014/main" id="{EE62D254-F678-6C5B-6030-5A6E2B8D265C}"/>
              </a:ext>
            </a:extLst>
          </p:cNvPr>
          <p:cNvSpPr txBox="1"/>
          <p:nvPr/>
        </p:nvSpPr>
        <p:spPr>
          <a:xfrm>
            <a:off x="7272559" y="2990282"/>
            <a:ext cx="4339650" cy="369332"/>
          </a:xfrm>
          <a:prstGeom prst="rect">
            <a:avLst/>
          </a:prstGeom>
          <a:noFill/>
        </p:spPr>
        <p:txBody>
          <a:bodyPr wrap="none" rtlCol="0">
            <a:spAutoFit/>
          </a:bodyPr>
          <a:lstStyle/>
          <a:p>
            <a:r>
              <a:rPr kumimoji="1" lang="ja-JP" altLang="en-US" dirty="0"/>
              <a:t>サンプル数を多くすると真の値に近づく</a:t>
            </a:r>
            <a:endParaRPr kumimoji="1" lang="en-US" altLang="ja-JP" dirty="0"/>
          </a:p>
        </p:txBody>
      </p:sp>
      <p:sp>
        <p:nvSpPr>
          <p:cNvPr id="15" name="テキスト ボックス 14">
            <a:extLst>
              <a:ext uri="{FF2B5EF4-FFF2-40B4-BE49-F238E27FC236}">
                <a16:creationId xmlns:a16="http://schemas.microsoft.com/office/drawing/2014/main" id="{6F6A3B08-9E50-B16C-2DD5-B4C1BF425F7A}"/>
              </a:ext>
            </a:extLst>
          </p:cNvPr>
          <p:cNvSpPr txBox="1"/>
          <p:nvPr/>
        </p:nvSpPr>
        <p:spPr>
          <a:xfrm>
            <a:off x="434673" y="3982836"/>
            <a:ext cx="6186309" cy="369332"/>
          </a:xfrm>
          <a:prstGeom prst="rect">
            <a:avLst/>
          </a:prstGeom>
          <a:noFill/>
        </p:spPr>
        <p:txBody>
          <a:bodyPr wrap="none" rtlCol="0">
            <a:spAutoFit/>
          </a:bodyPr>
          <a:lstStyle/>
          <a:p>
            <a:r>
              <a:rPr lang="ja-JP" altLang="en-US" dirty="0"/>
              <a:t>事前情報に確信がない場合、事前のサンプルを０にする</a:t>
            </a:r>
            <a:endParaRPr kumimoji="1" lang="en-US" altLang="ja-JP" dirty="0"/>
          </a:p>
        </p:txBody>
      </p:sp>
      <p:pic>
        <p:nvPicPr>
          <p:cNvPr id="17" name="図 16">
            <a:extLst>
              <a:ext uri="{FF2B5EF4-FFF2-40B4-BE49-F238E27FC236}">
                <a16:creationId xmlns:a16="http://schemas.microsoft.com/office/drawing/2014/main" id="{6571AADF-9CFD-5A64-9D5C-527683103B43}"/>
              </a:ext>
            </a:extLst>
          </p:cNvPr>
          <p:cNvPicPr>
            <a:picLocks noChangeAspect="1"/>
          </p:cNvPicPr>
          <p:nvPr/>
        </p:nvPicPr>
        <p:blipFill>
          <a:blip r:embed="rId4">
            <a:extLst>
              <a:ext uri="{28A0092B-C50C-407E-A947-70E740481C1C}">
                <a14:useLocalDpi xmlns:a14="http://schemas.microsoft.com/office/drawing/2010/main" val="0"/>
              </a:ext>
            </a:extLst>
          </a:blip>
          <a:srcRect r="26613" b="45783"/>
          <a:stretch>
            <a:fillRect/>
          </a:stretch>
        </p:blipFill>
        <p:spPr>
          <a:xfrm>
            <a:off x="579791" y="4600987"/>
            <a:ext cx="1125569" cy="537145"/>
          </a:xfrm>
          <a:prstGeom prst="rect">
            <a:avLst/>
          </a:prstGeom>
        </p:spPr>
      </p:pic>
      <p:pic>
        <p:nvPicPr>
          <p:cNvPr id="18" name="図 17">
            <a:extLst>
              <a:ext uri="{FF2B5EF4-FFF2-40B4-BE49-F238E27FC236}">
                <a16:creationId xmlns:a16="http://schemas.microsoft.com/office/drawing/2014/main" id="{A3F3DDEC-6EE6-00FE-F579-402A6B474DFF}"/>
              </a:ext>
            </a:extLst>
          </p:cNvPr>
          <p:cNvPicPr>
            <a:picLocks noChangeAspect="1"/>
          </p:cNvPicPr>
          <p:nvPr/>
        </p:nvPicPr>
        <p:blipFill>
          <a:blip r:embed="rId4">
            <a:extLst>
              <a:ext uri="{28A0092B-C50C-407E-A947-70E740481C1C}">
                <a14:useLocalDpi xmlns:a14="http://schemas.microsoft.com/office/drawing/2010/main" val="0"/>
              </a:ext>
            </a:extLst>
          </a:blip>
          <a:srcRect t="45783"/>
          <a:stretch>
            <a:fillRect/>
          </a:stretch>
        </p:blipFill>
        <p:spPr>
          <a:xfrm>
            <a:off x="375705" y="5143541"/>
            <a:ext cx="1533739" cy="537145"/>
          </a:xfrm>
          <a:prstGeom prst="rect">
            <a:avLst/>
          </a:prstGeom>
        </p:spPr>
      </p:pic>
      <p:sp>
        <p:nvSpPr>
          <p:cNvPr id="19" name="テキスト ボックス 18">
            <a:extLst>
              <a:ext uri="{FF2B5EF4-FFF2-40B4-BE49-F238E27FC236}">
                <a16:creationId xmlns:a16="http://schemas.microsoft.com/office/drawing/2014/main" id="{E382B8D9-F3EC-8008-8F2F-00A6B7AD0D63}"/>
              </a:ext>
            </a:extLst>
          </p:cNvPr>
          <p:cNvSpPr txBox="1"/>
          <p:nvPr/>
        </p:nvSpPr>
        <p:spPr>
          <a:xfrm>
            <a:off x="1852598" y="4684893"/>
            <a:ext cx="5032147" cy="369332"/>
          </a:xfrm>
          <a:prstGeom prst="rect">
            <a:avLst/>
          </a:prstGeom>
          <a:noFill/>
        </p:spPr>
        <p:txBody>
          <a:bodyPr wrap="none" rtlCol="0">
            <a:spAutoFit/>
          </a:bodyPr>
          <a:lstStyle/>
          <a:p>
            <a:r>
              <a:rPr kumimoji="1" lang="ja-JP" altLang="en-US" dirty="0"/>
              <a:t>事後平均は完全にデータの標本平均に一致する</a:t>
            </a:r>
            <a:endParaRPr kumimoji="1" lang="en-US" altLang="ja-JP" dirty="0"/>
          </a:p>
        </p:txBody>
      </p:sp>
      <p:sp>
        <p:nvSpPr>
          <p:cNvPr id="20" name="テキスト ボックス 19">
            <a:extLst>
              <a:ext uri="{FF2B5EF4-FFF2-40B4-BE49-F238E27FC236}">
                <a16:creationId xmlns:a16="http://schemas.microsoft.com/office/drawing/2014/main" id="{A0448553-6735-E90F-98F6-D9397CAC7053}"/>
              </a:ext>
            </a:extLst>
          </p:cNvPr>
          <p:cNvSpPr txBox="1"/>
          <p:nvPr/>
        </p:nvSpPr>
        <p:spPr>
          <a:xfrm>
            <a:off x="2100532" y="5276231"/>
            <a:ext cx="3877985" cy="369332"/>
          </a:xfrm>
          <a:prstGeom prst="rect">
            <a:avLst/>
          </a:prstGeom>
          <a:noFill/>
        </p:spPr>
        <p:txBody>
          <a:bodyPr wrap="none" rtlCol="0">
            <a:spAutoFit/>
          </a:bodyPr>
          <a:lstStyle/>
          <a:p>
            <a:r>
              <a:rPr kumimoji="1" lang="ja-JP" altLang="en-US" dirty="0"/>
              <a:t>事後</a:t>
            </a:r>
            <a:r>
              <a:rPr lang="ja-JP" altLang="en-US" dirty="0"/>
              <a:t>分散</a:t>
            </a:r>
            <a:r>
              <a:rPr kumimoji="1" lang="ja-JP" altLang="en-US" dirty="0"/>
              <a:t>はデータの分散に依存する</a:t>
            </a:r>
            <a:endParaRPr kumimoji="1" lang="en-US" altLang="ja-JP" dirty="0"/>
          </a:p>
        </p:txBody>
      </p:sp>
      <p:pic>
        <p:nvPicPr>
          <p:cNvPr id="22" name="図 21">
            <a:extLst>
              <a:ext uri="{FF2B5EF4-FFF2-40B4-BE49-F238E27FC236}">
                <a16:creationId xmlns:a16="http://schemas.microsoft.com/office/drawing/2014/main" id="{F2E2F646-46E2-32FB-43FA-6AF232A5FBC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72559" y="4835648"/>
            <a:ext cx="3923473" cy="1100915"/>
          </a:xfrm>
          <a:prstGeom prst="rect">
            <a:avLst/>
          </a:prstGeom>
        </p:spPr>
      </p:pic>
      <p:sp>
        <p:nvSpPr>
          <p:cNvPr id="23" name="テキスト ボックス 22">
            <a:extLst>
              <a:ext uri="{FF2B5EF4-FFF2-40B4-BE49-F238E27FC236}">
                <a16:creationId xmlns:a16="http://schemas.microsoft.com/office/drawing/2014/main" id="{7D5B68C7-539C-5A41-0A98-B6ED11E89007}"/>
              </a:ext>
            </a:extLst>
          </p:cNvPr>
          <p:cNvSpPr txBox="1"/>
          <p:nvPr/>
        </p:nvSpPr>
        <p:spPr>
          <a:xfrm>
            <a:off x="9869211" y="6119984"/>
            <a:ext cx="1882247" cy="369332"/>
          </a:xfrm>
          <a:prstGeom prst="rect">
            <a:avLst/>
          </a:prstGeom>
          <a:noFill/>
        </p:spPr>
        <p:txBody>
          <a:bodyPr wrap="none" rtlCol="0">
            <a:spAutoFit/>
          </a:bodyPr>
          <a:lstStyle/>
          <a:p>
            <a:r>
              <a:rPr lang="en-US" altLang="ja-JP" b="1" dirty="0"/>
              <a:t>t</a:t>
            </a:r>
            <a:r>
              <a:rPr lang="ja-JP" altLang="en-US" b="1" dirty="0"/>
              <a:t>分布</a:t>
            </a:r>
            <a:r>
              <a:rPr lang="ja-JP" altLang="en-US" dirty="0"/>
              <a:t>と一致する</a:t>
            </a:r>
            <a:endParaRPr kumimoji="1" lang="en-US" altLang="ja-JP" dirty="0"/>
          </a:p>
        </p:txBody>
      </p:sp>
      <p:sp>
        <p:nvSpPr>
          <p:cNvPr id="24" name="テキスト ボックス 23">
            <a:extLst>
              <a:ext uri="{FF2B5EF4-FFF2-40B4-BE49-F238E27FC236}">
                <a16:creationId xmlns:a16="http://schemas.microsoft.com/office/drawing/2014/main" id="{049E9FC3-2B25-C212-D2DF-0D5B80F05602}"/>
              </a:ext>
            </a:extLst>
          </p:cNvPr>
          <p:cNvSpPr txBox="1"/>
          <p:nvPr/>
        </p:nvSpPr>
        <p:spPr>
          <a:xfrm>
            <a:off x="2218015" y="6119984"/>
            <a:ext cx="1909497" cy="369332"/>
          </a:xfrm>
          <a:prstGeom prst="rect">
            <a:avLst/>
          </a:prstGeom>
          <a:noFill/>
        </p:spPr>
        <p:txBody>
          <a:bodyPr wrap="none" rtlCol="0">
            <a:spAutoFit/>
          </a:bodyPr>
          <a:lstStyle/>
          <a:p>
            <a:r>
              <a:rPr kumimoji="1" lang="en-US" altLang="ja-JP" dirty="0"/>
              <a:t>Fitnavi-app.com</a:t>
            </a:r>
          </a:p>
        </p:txBody>
      </p:sp>
    </p:spTree>
    <p:extLst>
      <p:ext uri="{BB962C8B-B14F-4D97-AF65-F5344CB8AC3E}">
        <p14:creationId xmlns:p14="http://schemas.microsoft.com/office/powerpoint/2010/main" val="189638720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6334</TotalTime>
  <Words>1662</Words>
  <Application>Microsoft Office PowerPoint</Application>
  <PresentationFormat>ワイド画面</PresentationFormat>
  <Paragraphs>123</Paragraphs>
  <Slides>11</Slides>
  <Notes>10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11</vt:i4>
      </vt:variant>
    </vt:vector>
  </HeadingPairs>
  <TitlesOfParts>
    <vt:vector size="15" baseType="lpstr">
      <vt:lpstr>游ゴシック</vt:lpstr>
      <vt:lpstr>游ゴシック Light</vt:lpstr>
      <vt:lpstr>Arial</vt:lpstr>
      <vt:lpstr>Office テーマ</vt:lpstr>
      <vt:lpstr>FitNavi制作の流れ</vt:lpstr>
      <vt:lpstr>目次</vt:lpstr>
      <vt:lpstr>Step1 企画・ターゲット選定</vt:lpstr>
      <vt:lpstr>Step1 企画・ターゲット選定</vt:lpstr>
      <vt:lpstr>Step1 企画・ターゲット選定</vt:lpstr>
      <vt:lpstr>Step1 企画・ターゲット選定</vt:lpstr>
      <vt:lpstr>Step1 企画・ターゲット選定</vt:lpstr>
      <vt:lpstr>Step1 企画・ターゲット選定</vt:lpstr>
      <vt:lpstr>Step1 企画・ターゲット選定</vt:lpstr>
      <vt:lpstr>Step3 MVPの決定</vt:lpstr>
      <vt:lpstr>モンテカルロ、非正則事前分布</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CHIMURA Yuki</dc:creator>
  <cp:lastModifiedBy>悠紀 地村</cp:lastModifiedBy>
  <cp:revision>18</cp:revision>
  <cp:lastPrinted>2026-01-16T02:59:14Z</cp:lastPrinted>
  <dcterms:created xsi:type="dcterms:W3CDTF">2025-10-22T05:28:53Z</dcterms:created>
  <dcterms:modified xsi:type="dcterms:W3CDTF">2026-03-21T03:36:57Z</dcterms:modified>
</cp:coreProperties>
</file>